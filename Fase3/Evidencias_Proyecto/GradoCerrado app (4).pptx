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6858000" cy="9144000"/>
  <p:embeddedFontLst>
    <p:embeddedFont>
      <p:font typeface="Poppins"/>
      <p:regular r:id="rId25"/>
      <p:bold r:id="rId26"/>
      <p:italic r:id="rId27"/>
      <p:boldItalic r:id="rId28"/>
    </p:embeddedFont>
    <p:embeddedFont>
      <p:font typeface="Poppins Medium"/>
      <p:regular r:id="rId29"/>
      <p:bold r:id="rId30"/>
      <p:italic r:id="rId31"/>
      <p:boldItalic r:id="rId32"/>
    </p:embeddedFont>
    <p:embeddedFont>
      <p:font typeface="Poppins SemiBold"/>
      <p:regular r:id="rId33"/>
      <p:bold r:id="rId34"/>
      <p:italic r:id="rId35"/>
      <p:boldItalic r:id="rId36"/>
    </p:embeddedFont>
    <p:embeddedFont>
      <p:font typeface="PT Sans"/>
      <p:regular r:id="rId37"/>
      <p:bold r:id="rId38"/>
      <p:italic r:id="rId39"/>
      <p:boldItalic r:id="rId40"/>
    </p:embeddedFont>
    <p:embeddedFont>
      <p:font typeface="Poppins ExtraBold"/>
      <p:bold r:id="rId41"/>
      <p:boldItalic r:id="rId42"/>
    </p:embeddedFont>
    <p:embeddedFont>
      <p:font typeface="Anybody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TSans-boldItalic.fntdata"/><Relationship Id="rId20" Type="http://schemas.openxmlformats.org/officeDocument/2006/relationships/slide" Target="slides/slide16.xml"/><Relationship Id="rId42" Type="http://schemas.openxmlformats.org/officeDocument/2006/relationships/font" Target="fonts/PoppinsExtraBold-boldItalic.fntdata"/><Relationship Id="rId41" Type="http://schemas.openxmlformats.org/officeDocument/2006/relationships/font" Target="fonts/PoppinsExtraBold-bold.fntdata"/><Relationship Id="rId22" Type="http://schemas.openxmlformats.org/officeDocument/2006/relationships/slide" Target="slides/slide18.xml"/><Relationship Id="rId44" Type="http://schemas.openxmlformats.org/officeDocument/2006/relationships/font" Target="fonts/Anybody-bold.fntdata"/><Relationship Id="rId21" Type="http://schemas.openxmlformats.org/officeDocument/2006/relationships/slide" Target="slides/slide17.xml"/><Relationship Id="rId43" Type="http://schemas.openxmlformats.org/officeDocument/2006/relationships/font" Target="fonts/Anybody-regular.fntdata"/><Relationship Id="rId24" Type="http://schemas.openxmlformats.org/officeDocument/2006/relationships/slide" Target="slides/slide20.xml"/><Relationship Id="rId46" Type="http://schemas.openxmlformats.org/officeDocument/2006/relationships/font" Target="fonts/Anybody-boldItalic.fntdata"/><Relationship Id="rId23" Type="http://schemas.openxmlformats.org/officeDocument/2006/relationships/slide" Target="slides/slide19.xml"/><Relationship Id="rId45" Type="http://schemas.openxmlformats.org/officeDocument/2006/relationships/font" Target="fonts/Anybody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oppinsMedium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oppinsMedium-italic.fntdata"/><Relationship Id="rId30" Type="http://schemas.openxmlformats.org/officeDocument/2006/relationships/font" Target="fonts/PoppinsMedium-bold.fntdata"/><Relationship Id="rId11" Type="http://schemas.openxmlformats.org/officeDocument/2006/relationships/slide" Target="slides/slide7.xml"/><Relationship Id="rId33" Type="http://schemas.openxmlformats.org/officeDocument/2006/relationships/font" Target="fonts/PoppinsSemiBold-regular.fntdata"/><Relationship Id="rId10" Type="http://schemas.openxmlformats.org/officeDocument/2006/relationships/slide" Target="slides/slide6.xml"/><Relationship Id="rId32" Type="http://schemas.openxmlformats.org/officeDocument/2006/relationships/font" Target="fonts/PoppinsMedium-boldItalic.fntdata"/><Relationship Id="rId13" Type="http://schemas.openxmlformats.org/officeDocument/2006/relationships/slide" Target="slides/slide9.xml"/><Relationship Id="rId35" Type="http://schemas.openxmlformats.org/officeDocument/2006/relationships/font" Target="fonts/PoppinsSemiBold-italic.fntdata"/><Relationship Id="rId12" Type="http://schemas.openxmlformats.org/officeDocument/2006/relationships/slide" Target="slides/slide8.xml"/><Relationship Id="rId34" Type="http://schemas.openxmlformats.org/officeDocument/2006/relationships/font" Target="fonts/PoppinsSemiBold-bold.fntdata"/><Relationship Id="rId15" Type="http://schemas.openxmlformats.org/officeDocument/2006/relationships/slide" Target="slides/slide11.xml"/><Relationship Id="rId37" Type="http://schemas.openxmlformats.org/officeDocument/2006/relationships/font" Target="fonts/PTSans-regular.fntdata"/><Relationship Id="rId14" Type="http://schemas.openxmlformats.org/officeDocument/2006/relationships/slide" Target="slides/slide10.xml"/><Relationship Id="rId36" Type="http://schemas.openxmlformats.org/officeDocument/2006/relationships/font" Target="fonts/PoppinsSemiBold-boldItalic.fntdata"/><Relationship Id="rId17" Type="http://schemas.openxmlformats.org/officeDocument/2006/relationships/slide" Target="slides/slide13.xml"/><Relationship Id="rId39" Type="http://schemas.openxmlformats.org/officeDocument/2006/relationships/font" Target="fonts/PTSans-italic.fntdata"/><Relationship Id="rId16" Type="http://schemas.openxmlformats.org/officeDocument/2006/relationships/slide" Target="slides/slide12.xml"/><Relationship Id="rId38" Type="http://schemas.openxmlformats.org/officeDocument/2006/relationships/font" Target="fonts/PTSans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78bb9d625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78bb9d625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84d99d1a7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184d99d1a7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a59e70689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a59e70689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a59e70689f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a59e70689f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a59e70689f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a59e70689f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a59e70689f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a59e70689f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a59e70689f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a59e70689f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a913f463be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a913f463be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a913f463be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a913f463be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a913f463be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a913f463be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a59e70689f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a59e70689f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ad7623573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ad7623573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a59e70689f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a59e70689f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a59e70689f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3a59e70689f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a59e70689f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3a59e70689f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a59e70689f_0_1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a59e70689f_0_1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a59e70689f_0_1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a59e70689f_0_1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a5bcbd82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3a5bcbd82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a59e70689f_0_1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3a59e70689f_0_1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rgbClr val="13B981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382325" y="289800"/>
            <a:ext cx="84768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1094225" y="1566938"/>
            <a:ext cx="4528800" cy="138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094225" y="3148763"/>
            <a:ext cx="4528800" cy="4278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1199050" y="2585350"/>
            <a:ext cx="5108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2" type="title"/>
          </p:nvPr>
        </p:nvSpPr>
        <p:spPr>
          <a:xfrm>
            <a:off x="1199050" y="1716350"/>
            <a:ext cx="1235700" cy="841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720000" y="1405325"/>
            <a:ext cx="7704000" cy="21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1" name="Google Shape;21;p4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22" name="Google Shape;22;p4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23" name="Google Shape;23;p4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" name="Google Shape;24;p4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" name="Google Shape;25;p4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6" name="Google Shape;26;p4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27" name="Google Shape;27;p4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8" name="Google Shape;28;p4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29" name="Google Shape;29;p4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rect b="b" l="l" r="r" t="t"/>
                  <a:pathLst>
                    <a:path extrusionOk="0" h="75028" w="75019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" name="Google Shape;30;p4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rect b="b" l="l" r="r" t="t"/>
                  <a:pathLst>
                    <a:path extrusionOk="0" h="37677" w="41343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" name="Google Shape;31;p4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rect b="b" l="l" r="r" t="t"/>
                  <a:pathLst>
                    <a:path extrusionOk="0" h="6266" w="15872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2" name="Google Shape;32;p4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33" name="Google Shape;33;p4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4" name="Google Shape;34;p4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35" name="Google Shape;35;p4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rect b="b" l="l" r="r" t="t"/>
                  <a:pathLst>
                    <a:path extrusionOk="0" h="13188" w="1320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" name="Google Shape;36;p4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rect b="b" l="l" r="r" t="t"/>
                  <a:pathLst>
                    <a:path extrusionOk="0" h="13188" w="13188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" name="Google Shape;37;p4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rect b="b" l="l" r="r" t="t"/>
                  <a:pathLst>
                    <a:path extrusionOk="0" h="3693" w="30091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" name="Google Shape;38;p4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rect b="b" l="l" r="r" t="t"/>
                  <a:pathLst>
                    <a:path extrusionOk="0" h="3693" w="27207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" name="Google Shape;39;p4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rect b="b" l="l" r="r" t="t"/>
                  <a:pathLst>
                    <a:path extrusionOk="0" h="53252" w="75418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 txBox="1"/>
          <p:nvPr>
            <p:ph idx="1" type="subTitle"/>
          </p:nvPr>
        </p:nvSpPr>
        <p:spPr>
          <a:xfrm>
            <a:off x="4163570" y="2272500"/>
            <a:ext cx="2694900" cy="16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2" type="subTitle"/>
          </p:nvPr>
        </p:nvSpPr>
        <p:spPr>
          <a:xfrm>
            <a:off x="713225" y="2272500"/>
            <a:ext cx="2694900" cy="16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3" type="subTitle"/>
          </p:nvPr>
        </p:nvSpPr>
        <p:spPr>
          <a:xfrm>
            <a:off x="713225" y="1791350"/>
            <a:ext cx="26949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5" name="Google Shape;45;p5"/>
          <p:cNvSpPr txBox="1"/>
          <p:nvPr>
            <p:ph idx="4" type="subTitle"/>
          </p:nvPr>
        </p:nvSpPr>
        <p:spPr>
          <a:xfrm>
            <a:off x="4163566" y="1791350"/>
            <a:ext cx="26949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6" name="Google Shape;46;p5"/>
          <p:cNvSpPr txBox="1"/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7" name="Google Shape;47;p5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48" name="Google Shape;48;p5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49" name="Google Shape;49;p5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" name="Google Shape;50;p5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" name="Google Shape;51;p5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2" name="Google Shape;52;p5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53" name="Google Shape;53;p5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4" name="Google Shape;54;p5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55" name="Google Shape;55;p5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rect b="b" l="l" r="r" t="t"/>
                  <a:pathLst>
                    <a:path extrusionOk="0" h="75028" w="75019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" name="Google Shape;56;p5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rect b="b" l="l" r="r" t="t"/>
                  <a:pathLst>
                    <a:path extrusionOk="0" h="37677" w="41343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" name="Google Shape;57;p5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rect b="b" l="l" r="r" t="t"/>
                  <a:pathLst>
                    <a:path extrusionOk="0" h="6266" w="15872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8" name="Google Shape;58;p5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59" name="Google Shape;59;p5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0" name="Google Shape;60;p5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61" name="Google Shape;61;p5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rect b="b" l="l" r="r" t="t"/>
                  <a:pathLst>
                    <a:path extrusionOk="0" h="13188" w="1320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" name="Google Shape;62;p5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rect b="b" l="l" r="r" t="t"/>
                  <a:pathLst>
                    <a:path extrusionOk="0" h="13188" w="13188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" name="Google Shape;63;p5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rect b="b" l="l" r="r" t="t"/>
                  <a:pathLst>
                    <a:path extrusionOk="0" h="3693" w="30091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" name="Google Shape;64;p5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rect b="b" l="l" r="r" t="t"/>
                  <a:pathLst>
                    <a:path extrusionOk="0" h="3693" w="27207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" name="Google Shape;65;p5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rect b="b" l="l" r="r" t="t"/>
                  <a:pathLst>
                    <a:path extrusionOk="0" h="53252" w="75418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7"/>
          <p:cNvSpPr/>
          <p:nvPr/>
        </p:nvSpPr>
        <p:spPr>
          <a:xfrm rot="3182898">
            <a:off x="-1789955" y="3811828"/>
            <a:ext cx="3362103" cy="2114342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"/>
          <p:cNvSpPr txBox="1"/>
          <p:nvPr>
            <p:ph idx="1" type="subTitle"/>
          </p:nvPr>
        </p:nvSpPr>
        <p:spPr>
          <a:xfrm>
            <a:off x="811975" y="1627825"/>
            <a:ext cx="45750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72" name="Google Shape;72;p7"/>
          <p:cNvSpPr/>
          <p:nvPr>
            <p:ph idx="2" type="pic"/>
          </p:nvPr>
        </p:nvSpPr>
        <p:spPr>
          <a:xfrm>
            <a:off x="5634025" y="1064975"/>
            <a:ext cx="2858400" cy="319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73" name="Google Shape;73;p7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74" name="Google Shape;74;p7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75" name="Google Shape;75;p7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" name="Google Shape;76;p7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" name="Google Shape;77;p7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8" name="Google Shape;78;p7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79" name="Google Shape;79;p7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0" name="Google Shape;80;p7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81" name="Google Shape;81;p7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rect b="b" l="l" r="r" t="t"/>
                  <a:pathLst>
                    <a:path extrusionOk="0" h="75028" w="75019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" name="Google Shape;82;p7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rect b="b" l="l" r="r" t="t"/>
                  <a:pathLst>
                    <a:path extrusionOk="0" h="37677" w="41343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" name="Google Shape;83;p7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rect b="b" l="l" r="r" t="t"/>
                  <a:pathLst>
                    <a:path extrusionOk="0" h="6266" w="15872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84" name="Google Shape;84;p7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85" name="Google Shape;85;p7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6" name="Google Shape;86;p7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87" name="Google Shape;87;p7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rect b="b" l="l" r="r" t="t"/>
                  <a:pathLst>
                    <a:path extrusionOk="0" h="13188" w="1320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" name="Google Shape;88;p7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rect b="b" l="l" r="r" t="t"/>
                  <a:pathLst>
                    <a:path extrusionOk="0" h="13188" w="13188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" name="Google Shape;89;p7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rect b="b" l="l" r="r" t="t"/>
                  <a:pathLst>
                    <a:path extrusionOk="0" h="3693" w="30091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" name="Google Shape;90;p7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rect b="b" l="l" r="r" t="t"/>
                  <a:pathLst>
                    <a:path extrusionOk="0" h="3693" w="27207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" name="Google Shape;91;p7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rect b="b" l="l" r="r" t="t"/>
                  <a:pathLst>
                    <a:path extrusionOk="0" h="53252" w="75418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92" name="Google Shape;92;p7"/>
          <p:cNvSpPr txBox="1"/>
          <p:nvPr>
            <p:ph type="title"/>
          </p:nvPr>
        </p:nvSpPr>
        <p:spPr>
          <a:xfrm>
            <a:off x="720000" y="762125"/>
            <a:ext cx="457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"/>
          <p:cNvSpPr/>
          <p:nvPr/>
        </p:nvSpPr>
        <p:spPr>
          <a:xfrm>
            <a:off x="4915376" y="4167393"/>
            <a:ext cx="4291800" cy="26994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97" name="Google Shape;97;p8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98" name="Google Shape;98;p8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99" name="Google Shape;99;p8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" name="Google Shape;100;p8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" name="Google Shape;101;p8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02" name="Google Shape;102;p8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103" name="Google Shape;103;p8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4" name="Google Shape;104;p8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105" name="Google Shape;105;p8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rect b="b" l="l" r="r" t="t"/>
                  <a:pathLst>
                    <a:path extrusionOk="0" h="75028" w="75019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" name="Google Shape;106;p8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rect b="b" l="l" r="r" t="t"/>
                  <a:pathLst>
                    <a:path extrusionOk="0" h="37677" w="41343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" name="Google Shape;107;p8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rect b="b" l="l" r="r" t="t"/>
                  <a:pathLst>
                    <a:path extrusionOk="0" h="6266" w="15872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08" name="Google Shape;108;p8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109" name="Google Shape;109;p8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0" name="Google Shape;110;p8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111" name="Google Shape;111;p8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rect b="b" l="l" r="r" t="t"/>
                  <a:pathLst>
                    <a:path extrusionOk="0" h="13188" w="1320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" name="Google Shape;112;p8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rect b="b" l="l" r="r" t="t"/>
                  <a:pathLst>
                    <a:path extrusionOk="0" h="13188" w="13188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" name="Google Shape;113;p8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rect b="b" l="l" r="r" t="t"/>
                  <a:pathLst>
                    <a:path extrusionOk="0" h="3693" w="30091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" name="Google Shape;114;p8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rect b="b" l="l" r="r" t="t"/>
                  <a:pathLst>
                    <a:path extrusionOk="0" h="3693" w="27207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" name="Google Shape;115;p8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rect b="b" l="l" r="r" t="t"/>
                  <a:pathLst>
                    <a:path extrusionOk="0" h="53252" w="75418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/>
          <p:cNvSpPr/>
          <p:nvPr/>
        </p:nvSpPr>
        <p:spPr>
          <a:xfrm rot="-4080314">
            <a:off x="-2065524" y="1779314"/>
            <a:ext cx="4291871" cy="2699376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0" name="Google Shape;120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21" name="Google Shape;121;p9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122" name="Google Shape;122;p9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123" name="Google Shape;123;p9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" name="Google Shape;124;p9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" name="Google Shape;125;p9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6" name="Google Shape;126;p9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127" name="Google Shape;127;p9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8" name="Google Shape;128;p9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129" name="Google Shape;129;p9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rect b="b" l="l" r="r" t="t"/>
                  <a:pathLst>
                    <a:path extrusionOk="0" h="75028" w="75019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" name="Google Shape;130;p9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rect b="b" l="l" r="r" t="t"/>
                  <a:pathLst>
                    <a:path extrusionOk="0" h="37677" w="41343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" name="Google Shape;131;p9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rect b="b" l="l" r="r" t="t"/>
                  <a:pathLst>
                    <a:path extrusionOk="0" h="6266" w="15872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32" name="Google Shape;132;p9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133" name="Google Shape;133;p9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4" name="Google Shape;134;p9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135" name="Google Shape;135;p9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rect b="b" l="l" r="r" t="t"/>
                  <a:pathLst>
                    <a:path extrusionOk="0" h="13188" w="1320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" name="Google Shape;136;p9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rect b="b" l="l" r="r" t="t"/>
                  <a:pathLst>
                    <a:path extrusionOk="0" h="13188" w="13188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" name="Google Shape;137;p9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rect b="b" l="l" r="r" t="t"/>
                  <a:pathLst>
                    <a:path extrusionOk="0" h="3693" w="30091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" name="Google Shape;138;p9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rect b="b" l="l" r="r" t="t"/>
                  <a:pathLst>
                    <a:path extrusionOk="0" h="3693" w="27207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" name="Google Shape;139;p9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rect b="b" l="l" r="r" t="t"/>
                  <a:pathLst>
                    <a:path extrusionOk="0" h="53252" w="75418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1"/>
          <p:cNvSpPr txBox="1"/>
          <p:nvPr>
            <p:ph hasCustomPrompt="1" type="title"/>
          </p:nvPr>
        </p:nvSpPr>
        <p:spPr>
          <a:xfrm>
            <a:off x="1284000" y="1692175"/>
            <a:ext cx="6576000" cy="9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5" name="Google Shape;145;p11"/>
          <p:cNvSpPr txBox="1"/>
          <p:nvPr>
            <p:ph idx="1" type="subTitle"/>
          </p:nvPr>
        </p:nvSpPr>
        <p:spPr>
          <a:xfrm>
            <a:off x="1284000" y="2681575"/>
            <a:ext cx="6576000" cy="4299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46" name="Google Shape;146;p11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147" name="Google Shape;147;p11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148" name="Google Shape;148;p11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" name="Google Shape;149;p11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" name="Google Shape;150;p11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51" name="Google Shape;151;p11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152" name="Google Shape;152;p11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53" name="Google Shape;153;p11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154" name="Google Shape;154;p11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rect b="b" l="l" r="r" t="t"/>
                  <a:pathLst>
                    <a:path extrusionOk="0" h="75028" w="75019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5" name="Google Shape;155;p11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rect b="b" l="l" r="r" t="t"/>
                  <a:pathLst>
                    <a:path extrusionOk="0" h="37677" w="41343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" name="Google Shape;156;p11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rect b="b" l="l" r="r" t="t"/>
                  <a:pathLst>
                    <a:path extrusionOk="0" h="6266" w="15872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57" name="Google Shape;157;p11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158" name="Google Shape;158;p11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59" name="Google Shape;159;p11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160" name="Google Shape;160;p11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rect b="b" l="l" r="r" t="t"/>
                  <a:pathLst>
                    <a:path extrusionOk="0" h="13188" w="1320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1" name="Google Shape;161;p11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rect b="b" l="l" r="r" t="t"/>
                  <a:pathLst>
                    <a:path extrusionOk="0" h="13188" w="13188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" name="Google Shape;162;p11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rect b="b" l="l" r="r" t="t"/>
                  <a:pathLst>
                    <a:path extrusionOk="0" h="3693" w="30091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3" name="Google Shape;163;p11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rect b="b" l="l" r="r" t="t"/>
                  <a:pathLst>
                    <a:path extrusionOk="0" h="3693" w="27207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" name="Google Shape;164;p11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rect b="b" l="l" r="r" t="t"/>
                  <a:pathLst>
                    <a:path extrusionOk="0" h="53252" w="75418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3"/>
          <p:cNvSpPr/>
          <p:nvPr/>
        </p:nvSpPr>
        <p:spPr>
          <a:xfrm rot="606218">
            <a:off x="316691" y="4397046"/>
            <a:ext cx="3362038" cy="2114466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"/>
          <p:cNvSpPr txBox="1"/>
          <p:nvPr>
            <p:ph hasCustomPrompt="1" type="title"/>
          </p:nvPr>
        </p:nvSpPr>
        <p:spPr>
          <a:xfrm>
            <a:off x="720000" y="1633283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0" name="Google Shape;170;p13"/>
          <p:cNvSpPr txBox="1"/>
          <p:nvPr>
            <p:ph hasCustomPrompt="1" idx="2" type="title"/>
          </p:nvPr>
        </p:nvSpPr>
        <p:spPr>
          <a:xfrm>
            <a:off x="720000" y="306669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1" name="Google Shape;171;p13"/>
          <p:cNvSpPr txBox="1"/>
          <p:nvPr>
            <p:ph hasCustomPrompt="1" idx="3" type="title"/>
          </p:nvPr>
        </p:nvSpPr>
        <p:spPr>
          <a:xfrm>
            <a:off x="3419275" y="1633283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2" name="Google Shape;172;p13"/>
          <p:cNvSpPr txBox="1"/>
          <p:nvPr>
            <p:ph hasCustomPrompt="1" idx="4" type="title"/>
          </p:nvPr>
        </p:nvSpPr>
        <p:spPr>
          <a:xfrm>
            <a:off x="3419275" y="306669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3" name="Google Shape;173;p13"/>
          <p:cNvSpPr txBox="1"/>
          <p:nvPr>
            <p:ph hasCustomPrompt="1" idx="5" type="title"/>
          </p:nvPr>
        </p:nvSpPr>
        <p:spPr>
          <a:xfrm>
            <a:off x="6118550" y="1633283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4" name="Google Shape;174;p13"/>
          <p:cNvSpPr txBox="1"/>
          <p:nvPr>
            <p:ph hasCustomPrompt="1" idx="6" type="title"/>
          </p:nvPr>
        </p:nvSpPr>
        <p:spPr>
          <a:xfrm>
            <a:off x="6118550" y="306669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5" name="Google Shape;175;p13"/>
          <p:cNvSpPr txBox="1"/>
          <p:nvPr>
            <p:ph idx="1" type="subTitle"/>
          </p:nvPr>
        </p:nvSpPr>
        <p:spPr>
          <a:xfrm>
            <a:off x="720000" y="20648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6" name="Google Shape;176;p13"/>
          <p:cNvSpPr txBox="1"/>
          <p:nvPr>
            <p:ph idx="7" type="subTitle"/>
          </p:nvPr>
        </p:nvSpPr>
        <p:spPr>
          <a:xfrm>
            <a:off x="3419275" y="20648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7" name="Google Shape;177;p13"/>
          <p:cNvSpPr txBox="1"/>
          <p:nvPr>
            <p:ph idx="8" type="subTitle"/>
          </p:nvPr>
        </p:nvSpPr>
        <p:spPr>
          <a:xfrm>
            <a:off x="6118550" y="20648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8" name="Google Shape;178;p13"/>
          <p:cNvSpPr txBox="1"/>
          <p:nvPr>
            <p:ph idx="9" type="subTitle"/>
          </p:nvPr>
        </p:nvSpPr>
        <p:spPr>
          <a:xfrm>
            <a:off x="720000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9" name="Google Shape;179;p13"/>
          <p:cNvSpPr txBox="1"/>
          <p:nvPr>
            <p:ph idx="13" type="subTitle"/>
          </p:nvPr>
        </p:nvSpPr>
        <p:spPr>
          <a:xfrm>
            <a:off x="3419275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80" name="Google Shape;180;p13"/>
          <p:cNvSpPr txBox="1"/>
          <p:nvPr>
            <p:ph idx="14" type="subTitle"/>
          </p:nvPr>
        </p:nvSpPr>
        <p:spPr>
          <a:xfrm>
            <a:off x="6118550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81" name="Google Shape;181;p13"/>
          <p:cNvSpPr txBox="1"/>
          <p:nvPr>
            <p:ph idx="15"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82" name="Google Shape;182;p13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183" name="Google Shape;183;p13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184" name="Google Shape;184;p13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13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" name="Google Shape;186;p13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87" name="Google Shape;187;p13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188" name="Google Shape;188;p13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89" name="Google Shape;189;p13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190" name="Google Shape;190;p13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rect b="b" l="l" r="r" t="t"/>
                  <a:pathLst>
                    <a:path extrusionOk="0" h="75028" w="75019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" name="Google Shape;191;p13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rect b="b" l="l" r="r" t="t"/>
                  <a:pathLst>
                    <a:path extrusionOk="0" h="37677" w="41343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" name="Google Shape;192;p13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rect b="b" l="l" r="r" t="t"/>
                  <a:pathLst>
                    <a:path extrusionOk="0" h="6266" w="15872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93" name="Google Shape;193;p13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194" name="Google Shape;194;p13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95" name="Google Shape;195;p13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196" name="Google Shape;196;p13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rect b="b" l="l" r="r" t="t"/>
                  <a:pathLst>
                    <a:path extrusionOk="0" h="13188" w="1320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" name="Google Shape;197;p13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rect b="b" l="l" r="r" t="t"/>
                  <a:pathLst>
                    <a:path extrusionOk="0" h="13188" w="13188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" name="Google Shape;198;p13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rect b="b" l="l" r="r" t="t"/>
                  <a:pathLst>
                    <a:path extrusionOk="0" h="3693" w="30091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" name="Google Shape;199;p13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rect b="b" l="l" r="r" t="t"/>
                  <a:pathLst>
                    <a:path extrusionOk="0" h="3693" w="27207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" name="Google Shape;200;p13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rect b="b" l="l" r="r" t="t"/>
                  <a:pathLst>
                    <a:path extrusionOk="0" h="53252" w="75418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rgbClr val="F97315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4"/>
          <p:cNvSpPr/>
          <p:nvPr/>
        </p:nvSpPr>
        <p:spPr>
          <a:xfrm>
            <a:off x="382325" y="289800"/>
            <a:ext cx="84768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rgbClr val="3B82F6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5"/>
          <p:cNvSpPr/>
          <p:nvPr/>
        </p:nvSpPr>
        <p:spPr>
          <a:xfrm>
            <a:off x="382325" y="289800"/>
            <a:ext cx="84768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rgbClr val="13B981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6"/>
          <p:cNvSpPr/>
          <p:nvPr/>
        </p:nvSpPr>
        <p:spPr>
          <a:xfrm>
            <a:off x="382325" y="289800"/>
            <a:ext cx="84768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6"/>
          <p:cNvSpPr txBox="1"/>
          <p:nvPr>
            <p:ph idx="1" type="subTitle"/>
          </p:nvPr>
        </p:nvSpPr>
        <p:spPr>
          <a:xfrm>
            <a:off x="937625" y="2198825"/>
            <a:ext cx="2175300" cy="18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1" name="Google Shape;211;p16"/>
          <p:cNvSpPr txBox="1"/>
          <p:nvPr>
            <p:ph idx="2" type="subTitle"/>
          </p:nvPr>
        </p:nvSpPr>
        <p:spPr>
          <a:xfrm>
            <a:off x="3484347" y="2198825"/>
            <a:ext cx="2175300" cy="18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2" name="Google Shape;212;p16"/>
          <p:cNvSpPr txBox="1"/>
          <p:nvPr>
            <p:ph idx="3" type="subTitle"/>
          </p:nvPr>
        </p:nvSpPr>
        <p:spPr>
          <a:xfrm>
            <a:off x="6031075" y="2198825"/>
            <a:ext cx="2175300" cy="18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3" name="Google Shape;213;p16"/>
          <p:cNvSpPr txBox="1"/>
          <p:nvPr>
            <p:ph idx="4" type="subTitle"/>
          </p:nvPr>
        </p:nvSpPr>
        <p:spPr>
          <a:xfrm>
            <a:off x="937625" y="1749476"/>
            <a:ext cx="2175300" cy="43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4" name="Google Shape;214;p16"/>
          <p:cNvSpPr txBox="1"/>
          <p:nvPr>
            <p:ph idx="5" type="subTitle"/>
          </p:nvPr>
        </p:nvSpPr>
        <p:spPr>
          <a:xfrm>
            <a:off x="3484350" y="1749476"/>
            <a:ext cx="2175300" cy="43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5" name="Google Shape;215;p16"/>
          <p:cNvSpPr txBox="1"/>
          <p:nvPr>
            <p:ph idx="6" type="subTitle"/>
          </p:nvPr>
        </p:nvSpPr>
        <p:spPr>
          <a:xfrm>
            <a:off x="6031075" y="1749476"/>
            <a:ext cx="2175300" cy="43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6" name="Google Shape;216;p16"/>
          <p:cNvSpPr txBox="1"/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7"/>
          <p:cNvSpPr/>
          <p:nvPr/>
        </p:nvSpPr>
        <p:spPr>
          <a:xfrm rot="5562018">
            <a:off x="7833586" y="1245380"/>
            <a:ext cx="3362233" cy="2114347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7"/>
          <p:cNvSpPr txBox="1"/>
          <p:nvPr>
            <p:ph idx="1" type="subTitle"/>
          </p:nvPr>
        </p:nvSpPr>
        <p:spPr>
          <a:xfrm>
            <a:off x="720000" y="1958762"/>
            <a:ext cx="35817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1" name="Google Shape;221;p17"/>
          <p:cNvSpPr txBox="1"/>
          <p:nvPr>
            <p:ph idx="2" type="subTitle"/>
          </p:nvPr>
        </p:nvSpPr>
        <p:spPr>
          <a:xfrm>
            <a:off x="4606805" y="1958762"/>
            <a:ext cx="35817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2" name="Google Shape;222;p17"/>
          <p:cNvSpPr txBox="1"/>
          <p:nvPr>
            <p:ph idx="3" type="subTitle"/>
          </p:nvPr>
        </p:nvSpPr>
        <p:spPr>
          <a:xfrm>
            <a:off x="720000" y="3336700"/>
            <a:ext cx="35817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3" name="Google Shape;223;p17"/>
          <p:cNvSpPr txBox="1"/>
          <p:nvPr>
            <p:ph idx="4" type="subTitle"/>
          </p:nvPr>
        </p:nvSpPr>
        <p:spPr>
          <a:xfrm>
            <a:off x="4606805" y="3336700"/>
            <a:ext cx="35817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4" name="Google Shape;224;p17"/>
          <p:cNvSpPr txBox="1"/>
          <p:nvPr>
            <p:ph idx="5" type="subTitle"/>
          </p:nvPr>
        </p:nvSpPr>
        <p:spPr>
          <a:xfrm>
            <a:off x="720000" y="1510387"/>
            <a:ext cx="3581700" cy="45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25" name="Google Shape;225;p17"/>
          <p:cNvSpPr txBox="1"/>
          <p:nvPr>
            <p:ph idx="6" type="subTitle"/>
          </p:nvPr>
        </p:nvSpPr>
        <p:spPr>
          <a:xfrm>
            <a:off x="720000" y="2888325"/>
            <a:ext cx="3581700" cy="45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26" name="Google Shape;226;p17"/>
          <p:cNvSpPr txBox="1"/>
          <p:nvPr>
            <p:ph idx="7" type="subTitle"/>
          </p:nvPr>
        </p:nvSpPr>
        <p:spPr>
          <a:xfrm>
            <a:off x="4606768" y="1510387"/>
            <a:ext cx="3581700" cy="45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27" name="Google Shape;227;p17"/>
          <p:cNvSpPr txBox="1"/>
          <p:nvPr>
            <p:ph idx="8" type="subTitle"/>
          </p:nvPr>
        </p:nvSpPr>
        <p:spPr>
          <a:xfrm>
            <a:off x="4606768" y="2888325"/>
            <a:ext cx="3581700" cy="45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28" name="Google Shape;228;p17"/>
          <p:cNvSpPr txBox="1"/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29" name="Google Shape;229;p17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230" name="Google Shape;230;p17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231" name="Google Shape;231;p17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" name="Google Shape;232;p17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" name="Google Shape;233;p17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34" name="Google Shape;234;p17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235" name="Google Shape;235;p17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36" name="Google Shape;236;p17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237" name="Google Shape;237;p17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rect b="b" l="l" r="r" t="t"/>
                  <a:pathLst>
                    <a:path extrusionOk="0" h="75028" w="75019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" name="Google Shape;238;p17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rect b="b" l="l" r="r" t="t"/>
                  <a:pathLst>
                    <a:path extrusionOk="0" h="37677" w="41343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" name="Google Shape;239;p17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rect b="b" l="l" r="r" t="t"/>
                  <a:pathLst>
                    <a:path extrusionOk="0" h="6266" w="15872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40" name="Google Shape;240;p17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241" name="Google Shape;241;p17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42" name="Google Shape;242;p17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243" name="Google Shape;243;p17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rect b="b" l="l" r="r" t="t"/>
                  <a:pathLst>
                    <a:path extrusionOk="0" h="13188" w="1320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" name="Google Shape;244;p17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rect b="b" l="l" r="r" t="t"/>
                  <a:pathLst>
                    <a:path extrusionOk="0" h="13188" w="13188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" name="Google Shape;245;p17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rect b="b" l="l" r="r" t="t"/>
                  <a:pathLst>
                    <a:path extrusionOk="0" h="3693" w="30091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" name="Google Shape;246;p17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rect b="b" l="l" r="r" t="t"/>
                  <a:pathLst>
                    <a:path extrusionOk="0" h="3693" w="27207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" name="Google Shape;247;p17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rect b="b" l="l" r="r" t="t"/>
                  <a:pathLst>
                    <a:path extrusionOk="0" h="53252" w="75418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8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8"/>
          <p:cNvSpPr/>
          <p:nvPr/>
        </p:nvSpPr>
        <p:spPr>
          <a:xfrm rot="3318019">
            <a:off x="-2389681" y="3047167"/>
            <a:ext cx="3362172" cy="2114406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8"/>
          <p:cNvSpPr txBox="1"/>
          <p:nvPr>
            <p:ph idx="1" type="subTitle"/>
          </p:nvPr>
        </p:nvSpPr>
        <p:spPr>
          <a:xfrm>
            <a:off x="714525" y="1851931"/>
            <a:ext cx="25701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2" name="Google Shape;252;p18"/>
          <p:cNvSpPr txBox="1"/>
          <p:nvPr>
            <p:ph idx="2" type="subTitle"/>
          </p:nvPr>
        </p:nvSpPr>
        <p:spPr>
          <a:xfrm>
            <a:off x="3284865" y="1851940"/>
            <a:ext cx="25701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3" name="Google Shape;253;p18"/>
          <p:cNvSpPr txBox="1"/>
          <p:nvPr>
            <p:ph idx="3" type="subTitle"/>
          </p:nvPr>
        </p:nvSpPr>
        <p:spPr>
          <a:xfrm>
            <a:off x="713925" y="3377632"/>
            <a:ext cx="25701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4" name="Google Shape;254;p18"/>
          <p:cNvSpPr txBox="1"/>
          <p:nvPr>
            <p:ph idx="4" type="subTitle"/>
          </p:nvPr>
        </p:nvSpPr>
        <p:spPr>
          <a:xfrm>
            <a:off x="3284261" y="3377632"/>
            <a:ext cx="25701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5" name="Google Shape;255;p18"/>
          <p:cNvSpPr txBox="1"/>
          <p:nvPr>
            <p:ph idx="5" type="subTitle"/>
          </p:nvPr>
        </p:nvSpPr>
        <p:spPr>
          <a:xfrm>
            <a:off x="5855198" y="1851940"/>
            <a:ext cx="25701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6" name="Google Shape;256;p18"/>
          <p:cNvSpPr txBox="1"/>
          <p:nvPr>
            <p:ph idx="6" type="subTitle"/>
          </p:nvPr>
        </p:nvSpPr>
        <p:spPr>
          <a:xfrm>
            <a:off x="5854598" y="3377632"/>
            <a:ext cx="25701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7" name="Google Shape;257;p18"/>
          <p:cNvSpPr txBox="1"/>
          <p:nvPr>
            <p:ph idx="7" type="subTitle"/>
          </p:nvPr>
        </p:nvSpPr>
        <p:spPr>
          <a:xfrm>
            <a:off x="714525" y="1434682"/>
            <a:ext cx="2570400" cy="42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58" name="Google Shape;258;p18"/>
          <p:cNvSpPr txBox="1"/>
          <p:nvPr>
            <p:ph idx="8" type="subTitle"/>
          </p:nvPr>
        </p:nvSpPr>
        <p:spPr>
          <a:xfrm>
            <a:off x="3284713" y="1434688"/>
            <a:ext cx="2570400" cy="42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59" name="Google Shape;259;p18"/>
          <p:cNvSpPr txBox="1"/>
          <p:nvPr>
            <p:ph idx="9" type="subTitle"/>
          </p:nvPr>
        </p:nvSpPr>
        <p:spPr>
          <a:xfrm>
            <a:off x="5860277" y="1434688"/>
            <a:ext cx="2570400" cy="42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60" name="Google Shape;260;p18"/>
          <p:cNvSpPr txBox="1"/>
          <p:nvPr>
            <p:ph idx="13" type="subTitle"/>
          </p:nvPr>
        </p:nvSpPr>
        <p:spPr>
          <a:xfrm>
            <a:off x="713925" y="2957131"/>
            <a:ext cx="2570100" cy="42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61" name="Google Shape;261;p18"/>
          <p:cNvSpPr txBox="1"/>
          <p:nvPr>
            <p:ph idx="14" type="subTitle"/>
          </p:nvPr>
        </p:nvSpPr>
        <p:spPr>
          <a:xfrm>
            <a:off x="3284113" y="2957131"/>
            <a:ext cx="2570400" cy="42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62" name="Google Shape;262;p18"/>
          <p:cNvSpPr txBox="1"/>
          <p:nvPr>
            <p:ph idx="15" type="subTitle"/>
          </p:nvPr>
        </p:nvSpPr>
        <p:spPr>
          <a:xfrm>
            <a:off x="5859677" y="2957131"/>
            <a:ext cx="2570400" cy="42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63" name="Google Shape;263;p18"/>
          <p:cNvSpPr txBox="1"/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64" name="Google Shape;264;p18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265" name="Google Shape;265;p18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266" name="Google Shape;266;p18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7" name="Google Shape;267;p18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8" name="Google Shape;268;p18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69" name="Google Shape;269;p18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270" name="Google Shape;270;p18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71" name="Google Shape;271;p18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272" name="Google Shape;272;p18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rect b="b" l="l" r="r" t="t"/>
                  <a:pathLst>
                    <a:path extrusionOk="0" h="75028" w="75019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3" name="Google Shape;273;p18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rect b="b" l="l" r="r" t="t"/>
                  <a:pathLst>
                    <a:path extrusionOk="0" h="37677" w="41343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" name="Google Shape;274;p18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rect b="b" l="l" r="r" t="t"/>
                  <a:pathLst>
                    <a:path extrusionOk="0" h="6266" w="15872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75" name="Google Shape;275;p18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276" name="Google Shape;276;p18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77" name="Google Shape;277;p18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278" name="Google Shape;278;p18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rect b="b" l="l" r="r" t="t"/>
                  <a:pathLst>
                    <a:path extrusionOk="0" h="13188" w="1320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9" name="Google Shape;279;p18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rect b="b" l="l" r="r" t="t"/>
                  <a:pathLst>
                    <a:path extrusionOk="0" h="13188" w="13188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0" name="Google Shape;280;p18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rect b="b" l="l" r="r" t="t"/>
                  <a:pathLst>
                    <a:path extrusionOk="0" h="3693" w="30091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1" name="Google Shape;281;p18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rect b="b" l="l" r="r" t="t"/>
                  <a:pathLst>
                    <a:path extrusionOk="0" h="3693" w="27207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2" name="Google Shape;282;p18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rect b="b" l="l" r="r" t="t"/>
                  <a:pathLst>
                    <a:path extrusionOk="0" h="53252" w="75418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9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9"/>
          <p:cNvSpPr/>
          <p:nvPr/>
        </p:nvSpPr>
        <p:spPr>
          <a:xfrm rot="-3265141">
            <a:off x="-2686040" y="1470719"/>
            <a:ext cx="4291806" cy="269948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9"/>
          <p:cNvSpPr txBox="1"/>
          <p:nvPr>
            <p:ph hasCustomPrompt="1" type="title"/>
          </p:nvPr>
        </p:nvSpPr>
        <p:spPr>
          <a:xfrm>
            <a:off x="978809" y="268717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7" name="Google Shape;287;p19"/>
          <p:cNvSpPr txBox="1"/>
          <p:nvPr>
            <p:ph idx="1" type="subTitle"/>
          </p:nvPr>
        </p:nvSpPr>
        <p:spPr>
          <a:xfrm>
            <a:off x="978816" y="3309421"/>
            <a:ext cx="3492600" cy="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88" name="Google Shape;288;p19"/>
          <p:cNvSpPr txBox="1"/>
          <p:nvPr>
            <p:ph hasCustomPrompt="1" idx="2" type="title"/>
          </p:nvPr>
        </p:nvSpPr>
        <p:spPr>
          <a:xfrm>
            <a:off x="2825700" y="1269385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9" name="Google Shape;289;p19"/>
          <p:cNvSpPr txBox="1"/>
          <p:nvPr>
            <p:ph idx="3" type="subTitle"/>
          </p:nvPr>
        </p:nvSpPr>
        <p:spPr>
          <a:xfrm>
            <a:off x="2825700" y="1891924"/>
            <a:ext cx="3492600" cy="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90" name="Google Shape;290;p19"/>
          <p:cNvSpPr txBox="1"/>
          <p:nvPr>
            <p:ph hasCustomPrompt="1" idx="4" type="title"/>
          </p:nvPr>
        </p:nvSpPr>
        <p:spPr>
          <a:xfrm>
            <a:off x="4672578" y="268717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91" name="Google Shape;291;p19"/>
          <p:cNvSpPr txBox="1"/>
          <p:nvPr>
            <p:ph idx="5" type="subTitle"/>
          </p:nvPr>
        </p:nvSpPr>
        <p:spPr>
          <a:xfrm>
            <a:off x="4672591" y="3309421"/>
            <a:ext cx="3492600" cy="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292" name="Google Shape;292;p19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293" name="Google Shape;293;p19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294" name="Google Shape;294;p19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" name="Google Shape;295;p19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" name="Google Shape;296;p19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97" name="Google Shape;297;p19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298" name="Google Shape;298;p19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99" name="Google Shape;299;p19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300" name="Google Shape;300;p19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rect b="b" l="l" r="r" t="t"/>
                  <a:pathLst>
                    <a:path extrusionOk="0" h="75028" w="75019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1" name="Google Shape;301;p19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rect b="b" l="l" r="r" t="t"/>
                  <a:pathLst>
                    <a:path extrusionOk="0" h="37677" w="41343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2" name="Google Shape;302;p19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rect b="b" l="l" r="r" t="t"/>
                  <a:pathLst>
                    <a:path extrusionOk="0" h="6266" w="15872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03" name="Google Shape;303;p19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304" name="Google Shape;304;p19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05" name="Google Shape;305;p19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306" name="Google Shape;306;p19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rect b="b" l="l" r="r" t="t"/>
                  <a:pathLst>
                    <a:path extrusionOk="0" h="13188" w="1320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7" name="Google Shape;307;p19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rect b="b" l="l" r="r" t="t"/>
                  <a:pathLst>
                    <a:path extrusionOk="0" h="13188" w="13188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8" name="Google Shape;308;p19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rect b="b" l="l" r="r" t="t"/>
                  <a:pathLst>
                    <a:path extrusionOk="0" h="3693" w="30091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" name="Google Shape;309;p19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rect b="b" l="l" r="r" t="t"/>
                  <a:pathLst>
                    <a:path extrusionOk="0" h="3693" w="27207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" name="Google Shape;310;p19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rect b="b" l="l" r="r" t="t"/>
                  <a:pathLst>
                    <a:path extrusionOk="0" h="53252" w="75418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0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0"/>
          <p:cNvSpPr txBox="1"/>
          <p:nvPr>
            <p:ph type="title"/>
          </p:nvPr>
        </p:nvSpPr>
        <p:spPr>
          <a:xfrm>
            <a:off x="2347938" y="997200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4" name="Google Shape;314;p20"/>
          <p:cNvSpPr txBox="1"/>
          <p:nvPr>
            <p:ph idx="1" type="subTitle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5" name="Google Shape;315;p20"/>
          <p:cNvSpPr txBox="1"/>
          <p:nvPr/>
        </p:nvSpPr>
        <p:spPr>
          <a:xfrm>
            <a:off x="1947600" y="2926150"/>
            <a:ext cx="5248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CREDITS:</a:t>
            </a:r>
            <a:r>
              <a:rPr lang="en"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Anybody"/>
                <a:ea typeface="Anybody"/>
                <a:cs typeface="Anybody"/>
                <a:sym typeface="Anybody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 </a:t>
            </a:r>
            <a:endParaRPr b="1" sz="1200" u="sng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grpSp>
        <p:nvGrpSpPr>
          <p:cNvPr id="316" name="Google Shape;316;p20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317" name="Google Shape;317;p20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318" name="Google Shape;318;p20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9" name="Google Shape;319;p20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" name="Google Shape;320;p20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21" name="Google Shape;321;p20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322" name="Google Shape;322;p20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23" name="Google Shape;323;p20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324" name="Google Shape;324;p20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rect b="b" l="l" r="r" t="t"/>
                  <a:pathLst>
                    <a:path extrusionOk="0" h="75028" w="75019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" name="Google Shape;325;p20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rect b="b" l="l" r="r" t="t"/>
                  <a:pathLst>
                    <a:path extrusionOk="0" h="37677" w="41343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" name="Google Shape;326;p20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rect b="b" l="l" r="r" t="t"/>
                  <a:pathLst>
                    <a:path extrusionOk="0" h="6266" w="15872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27" name="Google Shape;327;p20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328" name="Google Shape;328;p20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29" name="Google Shape;329;p20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330" name="Google Shape;330;p20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rect b="b" l="l" r="r" t="t"/>
                  <a:pathLst>
                    <a:path extrusionOk="0" h="13188" w="1320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1" name="Google Shape;331;p20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rect b="b" l="l" r="r" t="t"/>
                  <a:pathLst>
                    <a:path extrusionOk="0" h="13188" w="13188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2" name="Google Shape;332;p20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rect b="b" l="l" r="r" t="t"/>
                  <a:pathLst>
                    <a:path extrusionOk="0" h="3693" w="30091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3" name="Google Shape;333;p20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rect b="b" l="l" r="r" t="t"/>
                  <a:pathLst>
                    <a:path extrusionOk="0" h="3693" w="27207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" name="Google Shape;334;p20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rect b="b" l="l" r="r" t="t"/>
                  <a:pathLst>
                    <a:path extrusionOk="0" h="53252" w="75418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1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1"/>
          <p:cNvSpPr/>
          <p:nvPr/>
        </p:nvSpPr>
        <p:spPr>
          <a:xfrm rot="1917429">
            <a:off x="-740302" y="3859619"/>
            <a:ext cx="3362272" cy="2114379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8" name="Google Shape;338;p21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339" name="Google Shape;339;p21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340" name="Google Shape;340;p21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1" name="Google Shape;341;p21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2" name="Google Shape;342;p21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43" name="Google Shape;343;p21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344" name="Google Shape;344;p21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45" name="Google Shape;345;p21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346" name="Google Shape;346;p21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rect b="b" l="l" r="r" t="t"/>
                  <a:pathLst>
                    <a:path extrusionOk="0" h="75028" w="75019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7" name="Google Shape;347;p21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rect b="b" l="l" r="r" t="t"/>
                  <a:pathLst>
                    <a:path extrusionOk="0" h="37677" w="41343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8" name="Google Shape;348;p21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rect b="b" l="l" r="r" t="t"/>
                  <a:pathLst>
                    <a:path extrusionOk="0" h="6266" w="15872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49" name="Google Shape;349;p21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350" name="Google Shape;350;p21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51" name="Google Shape;351;p21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352" name="Google Shape;352;p21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rect b="b" l="l" r="r" t="t"/>
                  <a:pathLst>
                    <a:path extrusionOk="0" h="13188" w="1320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3" name="Google Shape;353;p21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rect b="b" l="l" r="r" t="t"/>
                  <a:pathLst>
                    <a:path extrusionOk="0" h="13188" w="13188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4" name="Google Shape;354;p21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rect b="b" l="l" r="r" t="t"/>
                  <a:pathLst>
                    <a:path extrusionOk="0" h="3693" w="30091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5" name="Google Shape;355;p21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rect b="b" l="l" r="r" t="t"/>
                  <a:pathLst>
                    <a:path extrusionOk="0" h="3693" w="27207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6" name="Google Shape;356;p21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rect b="b" l="l" r="r" t="t"/>
                  <a:pathLst>
                    <a:path extrusionOk="0" h="53252" w="75418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fmla="val 825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4080000" dist="762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2"/>
          <p:cNvSpPr/>
          <p:nvPr/>
        </p:nvSpPr>
        <p:spPr>
          <a:xfrm rot="-3396324">
            <a:off x="6499386" y="2974595"/>
            <a:ext cx="4291772" cy="2699372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0" name="Google Shape;360;p22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361" name="Google Shape;361;p22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362" name="Google Shape;362;p22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" name="Google Shape;363;p22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4" name="Google Shape;364;p22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65" name="Google Shape;365;p22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366" name="Google Shape;366;p22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67" name="Google Shape;367;p22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368" name="Google Shape;368;p22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rect b="b" l="l" r="r" t="t"/>
                  <a:pathLst>
                    <a:path extrusionOk="0" h="75028" w="75019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9" name="Google Shape;369;p22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rect b="b" l="l" r="r" t="t"/>
                  <a:pathLst>
                    <a:path extrusionOk="0" h="37677" w="41343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0" name="Google Shape;370;p22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rect b="b" l="l" r="r" t="t"/>
                  <a:pathLst>
                    <a:path extrusionOk="0" h="6266" w="15872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71" name="Google Shape;371;p22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372" name="Google Shape;372;p22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73" name="Google Shape;373;p22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374" name="Google Shape;374;p22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rect b="b" l="l" r="r" t="t"/>
                  <a:pathLst>
                    <a:path extrusionOk="0" h="13188" w="1320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5" name="Google Shape;375;p22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rect b="b" l="l" r="r" t="t"/>
                  <a:pathLst>
                    <a:path extrusionOk="0" h="13188" w="13188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6" name="Google Shape;376;p22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rect b="b" l="l" r="r" t="t"/>
                  <a:pathLst>
                    <a:path extrusionOk="0" h="3693" w="30091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7" name="Google Shape;377;p22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rect b="b" l="l" r="r" t="t"/>
                  <a:pathLst>
                    <a:path extrusionOk="0" h="3693" w="27207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8" name="Google Shape;378;p22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rect b="b" l="l" r="r" t="t"/>
                  <a:pathLst>
                    <a:path extrusionOk="0" h="53252" w="75418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b="1" sz="30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b="1" sz="30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b="1" sz="30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b="1" sz="30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b="1" sz="30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b="1" sz="30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b="1" sz="30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b="1" sz="30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b="1" sz="30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●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○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■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●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○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■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●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○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■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hyperlink" Target="https://www.latercera.com/noticia/universidades-toman-medidas-para-enfrentar-alto-indice-de-reprobacion-en-el-examen-de-grado-de-derecho/" TargetMode="External"/><Relationship Id="rId5" Type="http://schemas.openxmlformats.org/officeDocument/2006/relationships/hyperlink" Target="https://www.elmercurio.com/legal/movil/detalle.aspx?Id=907118&amp;Path=%2F0D%2FD7%2F" TargetMode="External"/><Relationship Id="rId6" Type="http://schemas.openxmlformats.org/officeDocument/2006/relationships/hyperlink" Target="https://pedagogiaderecho.uchile.cl/index.php/RPUD/article/download/61592/67539/230978" TargetMode="External"/><Relationship Id="rId7" Type="http://schemas.openxmlformats.org/officeDocument/2006/relationships/hyperlink" Target="https://www.litoralpress.cl/SimbiuPDF/2025/07/05/6016023.pdf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30.png"/><Relationship Id="rId7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20" Type="http://schemas.openxmlformats.org/officeDocument/2006/relationships/image" Target="../media/image27.png"/><Relationship Id="rId22" Type="http://schemas.openxmlformats.org/officeDocument/2006/relationships/image" Target="../media/image24.png"/><Relationship Id="rId21" Type="http://schemas.openxmlformats.org/officeDocument/2006/relationships/image" Target="../media/image22.png"/><Relationship Id="rId24" Type="http://schemas.openxmlformats.org/officeDocument/2006/relationships/image" Target="../media/image20.jpg"/><Relationship Id="rId23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26" Type="http://schemas.openxmlformats.org/officeDocument/2006/relationships/image" Target="../media/image16.png"/><Relationship Id="rId25" Type="http://schemas.openxmlformats.org/officeDocument/2006/relationships/image" Target="../media/image23.png"/><Relationship Id="rId27" Type="http://schemas.openxmlformats.org/officeDocument/2006/relationships/image" Target="../media/image25.png"/><Relationship Id="rId5" Type="http://schemas.openxmlformats.org/officeDocument/2006/relationships/image" Target="../media/image8.png"/><Relationship Id="rId6" Type="http://schemas.openxmlformats.org/officeDocument/2006/relationships/image" Target="../media/image26.png"/><Relationship Id="rId7" Type="http://schemas.openxmlformats.org/officeDocument/2006/relationships/image" Target="../media/image12.png"/><Relationship Id="rId8" Type="http://schemas.openxmlformats.org/officeDocument/2006/relationships/image" Target="../media/image21.png"/><Relationship Id="rId11" Type="http://schemas.openxmlformats.org/officeDocument/2006/relationships/image" Target="../media/image11.png"/><Relationship Id="rId10" Type="http://schemas.openxmlformats.org/officeDocument/2006/relationships/image" Target="../media/image14.png"/><Relationship Id="rId13" Type="http://schemas.openxmlformats.org/officeDocument/2006/relationships/image" Target="../media/image19.png"/><Relationship Id="rId12" Type="http://schemas.openxmlformats.org/officeDocument/2006/relationships/image" Target="../media/image13.png"/><Relationship Id="rId15" Type="http://schemas.openxmlformats.org/officeDocument/2006/relationships/image" Target="../media/image17.png"/><Relationship Id="rId14" Type="http://schemas.openxmlformats.org/officeDocument/2006/relationships/image" Target="../media/image4.png"/><Relationship Id="rId17" Type="http://schemas.openxmlformats.org/officeDocument/2006/relationships/image" Target="../media/image1.png"/><Relationship Id="rId16" Type="http://schemas.openxmlformats.org/officeDocument/2006/relationships/image" Target="../media/image9.png"/><Relationship Id="rId19" Type="http://schemas.openxmlformats.org/officeDocument/2006/relationships/image" Target="../media/image30.png"/><Relationship Id="rId18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8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3"/>
          <p:cNvSpPr txBox="1"/>
          <p:nvPr>
            <p:ph type="ctrTitle"/>
          </p:nvPr>
        </p:nvSpPr>
        <p:spPr>
          <a:xfrm>
            <a:off x="3627350" y="1325125"/>
            <a:ext cx="3788700" cy="173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0">
                <a:latin typeface="Poppins"/>
                <a:ea typeface="Poppins"/>
                <a:cs typeface="Poppins"/>
                <a:sym typeface="Poppins"/>
              </a:rPr>
              <a:t>GRADO</a:t>
            </a:r>
            <a:r>
              <a:rPr lang="en" sz="59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lang="en" sz="5900">
                <a:latin typeface="Poppins"/>
                <a:ea typeface="Poppins"/>
                <a:cs typeface="Poppins"/>
                <a:sym typeface="Poppins"/>
              </a:rPr>
              <a:t>CERRADO</a:t>
            </a:r>
            <a:endParaRPr b="0" sz="59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4" name="Google Shape;384;p23"/>
          <p:cNvSpPr txBox="1"/>
          <p:nvPr>
            <p:ph idx="1" type="subTitle"/>
          </p:nvPr>
        </p:nvSpPr>
        <p:spPr>
          <a:xfrm>
            <a:off x="2010800" y="3000725"/>
            <a:ext cx="5265300" cy="471600"/>
          </a:xfrm>
          <a:prstGeom prst="rect">
            <a:avLst/>
          </a:prstGeom>
          <a:solidFill>
            <a:srgbClr val="13B98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 R E S E N T A C I Ó N   F I N A L   C A P S T O N E</a:t>
            </a:r>
            <a:endParaRPr sz="9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385" name="Google Shape;385;p23"/>
          <p:cNvGrpSpPr/>
          <p:nvPr/>
        </p:nvGrpSpPr>
        <p:grpSpPr>
          <a:xfrm>
            <a:off x="4407005" y="4191791"/>
            <a:ext cx="329989" cy="275508"/>
            <a:chOff x="4382679" y="4319018"/>
            <a:chExt cx="378645" cy="316095"/>
          </a:xfrm>
        </p:grpSpPr>
        <p:sp>
          <p:nvSpPr>
            <p:cNvPr id="386" name="Google Shape;386;p23">
              <a:hlinkClick action="ppaction://hlinkshowjump?jump=nextslide"/>
            </p:cNvPr>
            <p:cNvSpPr/>
            <p:nvPr/>
          </p:nvSpPr>
          <p:spPr>
            <a:xfrm>
              <a:off x="4382679" y="4442791"/>
              <a:ext cx="378645" cy="192322"/>
            </a:xfrm>
            <a:custGeom>
              <a:rect b="b" l="l" r="r" t="t"/>
              <a:pathLst>
                <a:path extrusionOk="0" h="11992" w="2361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87" name="Google Shape;387;p23">
              <a:hlinkClick action="ppaction://hlinkshowjump?jump=nextslide"/>
            </p:cNvPr>
            <p:cNvSpPr/>
            <p:nvPr/>
          </p:nvSpPr>
          <p:spPr>
            <a:xfrm>
              <a:off x="4382679" y="4319018"/>
              <a:ext cx="378645" cy="192322"/>
            </a:xfrm>
            <a:custGeom>
              <a:rect b="b" l="l" r="r" t="t"/>
              <a:pathLst>
                <a:path extrusionOk="0" h="11992" w="2361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pic>
        <p:nvPicPr>
          <p:cNvPr id="388" name="Google Shape;388;p23" title="law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7950" y="1457625"/>
            <a:ext cx="1549575" cy="13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4"/>
          <p:cNvSpPr txBox="1"/>
          <p:nvPr>
            <p:ph type="title"/>
          </p:nvPr>
        </p:nvSpPr>
        <p:spPr>
          <a:xfrm>
            <a:off x="1563375" y="694275"/>
            <a:ext cx="359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NUESTRO EQUIPO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4" name="Google Shape;394;p24"/>
          <p:cNvSpPr txBox="1"/>
          <p:nvPr>
            <p:ph idx="3" type="subTitle"/>
          </p:nvPr>
        </p:nvSpPr>
        <p:spPr>
          <a:xfrm>
            <a:off x="6030500" y="3031529"/>
            <a:ext cx="2313600" cy="9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Scrum Master + Developer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Facilita las ceremonias Scrum, elimina impedimentos y vela por la aplicación correcta de la metodología.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5" name="Google Shape;395;p24"/>
          <p:cNvSpPr txBox="1"/>
          <p:nvPr>
            <p:ph idx="6" type="subTitle"/>
          </p:nvPr>
        </p:nvSpPr>
        <p:spPr>
          <a:xfrm>
            <a:off x="5916925" y="2582179"/>
            <a:ext cx="2516700" cy="4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CONSTANZA FLORES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96" name="Google Shape;396;p24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4"/>
          <p:cNvSpPr/>
          <p:nvPr/>
        </p:nvSpPr>
        <p:spPr>
          <a:xfrm>
            <a:off x="6888913" y="1929504"/>
            <a:ext cx="572700" cy="572700"/>
          </a:xfrm>
          <a:prstGeom prst="ellipse">
            <a:avLst/>
          </a:prstGeom>
          <a:solidFill>
            <a:srgbClr val="13B981"/>
          </a:solidFill>
          <a:ln>
            <a:noFill/>
          </a:ln>
        </p:spPr>
        <p:txBody>
          <a:bodyPr anchorCtr="0" anchor="ctr" bIns="64725" lIns="64725" spcFirstLastPara="1" rIns="64725" wrap="square" tIns="64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91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398" name="Google Shape;398;p24"/>
          <p:cNvSpPr txBox="1"/>
          <p:nvPr/>
        </p:nvSpPr>
        <p:spPr>
          <a:xfrm>
            <a:off x="6888913" y="1986965"/>
            <a:ext cx="5727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725" lIns="64725" spcFirstLastPara="1" rIns="64725" wrap="square" tIns="64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24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rPr>
              <a:t>CF</a:t>
            </a:r>
            <a:endParaRPr sz="2124">
              <a:solidFill>
                <a:schemeClr val="dk2"/>
              </a:solidFill>
            </a:endParaRPr>
          </a:p>
        </p:txBody>
      </p:sp>
      <p:sp>
        <p:nvSpPr>
          <p:cNvPr id="399" name="Google Shape;399;p24"/>
          <p:cNvSpPr txBox="1"/>
          <p:nvPr>
            <p:ph idx="3" type="subTitle"/>
          </p:nvPr>
        </p:nvSpPr>
        <p:spPr>
          <a:xfrm>
            <a:off x="3427225" y="3031529"/>
            <a:ext cx="2313600" cy="9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Product Owner + Developer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Define y prioriza el backlog, válida entregas y asegura que el producto cumpla la visión del proyecto.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0" name="Google Shape;400;p24"/>
          <p:cNvSpPr txBox="1"/>
          <p:nvPr>
            <p:ph idx="6" type="subTitle"/>
          </p:nvPr>
        </p:nvSpPr>
        <p:spPr>
          <a:xfrm>
            <a:off x="3313650" y="2582179"/>
            <a:ext cx="2516700" cy="4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ASTRID GONZÁLEZ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1" name="Google Shape;401;p24"/>
          <p:cNvSpPr/>
          <p:nvPr/>
        </p:nvSpPr>
        <p:spPr>
          <a:xfrm>
            <a:off x="4285647" y="1929504"/>
            <a:ext cx="572700" cy="5727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64725" lIns="64725" spcFirstLastPara="1" rIns="64725" wrap="square" tIns="64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91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402" name="Google Shape;402;p24"/>
          <p:cNvSpPr txBox="1"/>
          <p:nvPr/>
        </p:nvSpPr>
        <p:spPr>
          <a:xfrm>
            <a:off x="4285647" y="1986965"/>
            <a:ext cx="5727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725" lIns="64725" spcFirstLastPara="1" rIns="64725" wrap="square" tIns="64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24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rPr>
              <a:t>AG</a:t>
            </a:r>
            <a:endParaRPr sz="2124">
              <a:solidFill>
                <a:schemeClr val="dk2"/>
              </a:solidFill>
            </a:endParaRPr>
          </a:p>
        </p:txBody>
      </p:sp>
      <p:sp>
        <p:nvSpPr>
          <p:cNvPr id="403" name="Google Shape;403;p24"/>
          <p:cNvSpPr txBox="1"/>
          <p:nvPr>
            <p:ph idx="3" type="subTitle"/>
          </p:nvPr>
        </p:nvSpPr>
        <p:spPr>
          <a:xfrm>
            <a:off x="820130" y="3031529"/>
            <a:ext cx="2313600" cy="9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Development Manager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Lidera la arquitectura y desarrollo backend, integra la IA y asegura la calidad técnica del código.</a:t>
            </a:r>
            <a:endParaRPr sz="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4" name="Google Shape;404;p24"/>
          <p:cNvSpPr txBox="1"/>
          <p:nvPr>
            <p:ph idx="6" type="subTitle"/>
          </p:nvPr>
        </p:nvSpPr>
        <p:spPr>
          <a:xfrm>
            <a:off x="706555" y="2582179"/>
            <a:ext cx="2516700" cy="4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SAMIRA AWAD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5" name="Google Shape;405;p24"/>
          <p:cNvSpPr/>
          <p:nvPr/>
        </p:nvSpPr>
        <p:spPr>
          <a:xfrm>
            <a:off x="1690575" y="1929504"/>
            <a:ext cx="572700" cy="572700"/>
          </a:xfrm>
          <a:prstGeom prst="ellipse">
            <a:avLst/>
          </a:prstGeom>
          <a:solidFill>
            <a:srgbClr val="F97315"/>
          </a:solidFill>
          <a:ln>
            <a:noFill/>
          </a:ln>
        </p:spPr>
        <p:txBody>
          <a:bodyPr anchorCtr="0" anchor="ctr" bIns="64725" lIns="64725" spcFirstLastPara="1" rIns="64725" wrap="square" tIns="64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91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406" name="Google Shape;406;p24"/>
          <p:cNvSpPr txBox="1"/>
          <p:nvPr/>
        </p:nvSpPr>
        <p:spPr>
          <a:xfrm>
            <a:off x="1690575" y="1986965"/>
            <a:ext cx="5727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725" lIns="64725" spcFirstLastPara="1" rIns="64725" wrap="square" tIns="64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24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rPr>
              <a:t>SA</a:t>
            </a:r>
            <a:endParaRPr sz="2124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5"/>
          <p:cNvSpPr txBox="1"/>
          <p:nvPr>
            <p:ph type="title"/>
          </p:nvPr>
        </p:nvSpPr>
        <p:spPr>
          <a:xfrm>
            <a:off x="1563375" y="694275"/>
            <a:ext cx="3468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DESCRIPCIÓN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12" name="Google Shape;412;p25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5"/>
          <p:cNvSpPr txBox="1"/>
          <p:nvPr>
            <p:ph idx="4294967295" type="subTitle"/>
          </p:nvPr>
        </p:nvSpPr>
        <p:spPr>
          <a:xfrm>
            <a:off x="832890" y="2007072"/>
            <a:ext cx="2103300" cy="516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Nuevos abogados se titulan </a:t>
            </a:r>
            <a:r>
              <a:rPr lang="en" sz="1000"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cada año en Chile.</a:t>
            </a:r>
            <a:endParaRPr sz="1000">
              <a:highlight>
                <a:srgbClr val="FFE100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4" name="Google Shape;414;p25"/>
          <p:cNvSpPr txBox="1"/>
          <p:nvPr>
            <p:ph idx="4294967295" type="title"/>
          </p:nvPr>
        </p:nvSpPr>
        <p:spPr>
          <a:xfrm>
            <a:off x="967600" y="2433098"/>
            <a:ext cx="1844100" cy="3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13B98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≈</a:t>
            </a:r>
            <a:r>
              <a:rPr b="0" lang="en" sz="2400">
                <a:solidFill>
                  <a:srgbClr val="13B98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1 </a:t>
            </a:r>
            <a:r>
              <a:rPr b="0" lang="en" sz="1800">
                <a:solidFill>
                  <a:srgbClr val="13B981"/>
                </a:solidFill>
                <a:latin typeface="Poppins"/>
                <a:ea typeface="Poppins"/>
                <a:cs typeface="Poppins"/>
                <a:sym typeface="Poppins"/>
              </a:rPr>
              <a:t>de cada</a:t>
            </a:r>
            <a:r>
              <a:rPr b="0" lang="en" sz="2400">
                <a:solidFill>
                  <a:srgbClr val="13B98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lang="en" sz="2400">
                <a:solidFill>
                  <a:srgbClr val="13B98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3</a:t>
            </a:r>
            <a:endParaRPr b="0" sz="2400">
              <a:solidFill>
                <a:srgbClr val="13B98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415" name="Google Shape;415;p25"/>
          <p:cNvCxnSpPr/>
          <p:nvPr/>
        </p:nvCxnSpPr>
        <p:spPr>
          <a:xfrm>
            <a:off x="3229300" y="1732325"/>
            <a:ext cx="0" cy="280110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" name="Google Shape;416;p25"/>
          <p:cNvSpPr txBox="1"/>
          <p:nvPr>
            <p:ph idx="3" type="subTitle"/>
          </p:nvPr>
        </p:nvSpPr>
        <p:spPr>
          <a:xfrm>
            <a:off x="3315963" y="2257175"/>
            <a:ext cx="2362500" cy="22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3B981"/>
                </a:solidFill>
                <a:latin typeface="Poppins"/>
                <a:ea typeface="Poppins"/>
                <a:cs typeface="Poppins"/>
                <a:sym typeface="Poppins"/>
              </a:rPr>
              <a:t>PROBLEMAS IDENTIFICADOS</a:t>
            </a:r>
            <a:endParaRPr b="1" sz="1600">
              <a:solidFill>
                <a:srgbClr val="13B98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oppins"/>
              <a:buChar char="●"/>
            </a:pPr>
            <a:r>
              <a:rPr lang="en" sz="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Falta de constancia en el estudio</a:t>
            </a:r>
            <a:endParaRPr sz="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oppins"/>
              <a:buChar char="●"/>
            </a:pPr>
            <a:r>
              <a:rPr lang="en" sz="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Dificultad para identificar puntos débiles específicos</a:t>
            </a:r>
            <a:endParaRPr sz="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oppins"/>
              <a:buChar char="●"/>
            </a:pPr>
            <a:r>
              <a:rPr lang="en" sz="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Bancos de preguntas estáticos sin seguimiento personalizado </a:t>
            </a:r>
            <a:endParaRPr sz="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oppins"/>
              <a:buChar char="●"/>
            </a:pPr>
            <a:r>
              <a:rPr lang="en" sz="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Tiempos de estudio</a:t>
            </a:r>
            <a:endParaRPr sz="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7" name="Google Shape;417;p25"/>
          <p:cNvSpPr/>
          <p:nvPr/>
        </p:nvSpPr>
        <p:spPr>
          <a:xfrm>
            <a:off x="5919425" y="1349825"/>
            <a:ext cx="2535900" cy="3183600"/>
          </a:xfrm>
          <a:prstGeom prst="roundRect">
            <a:avLst>
              <a:gd fmla="val 11679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418" name="Google Shape;418;p25"/>
          <p:cNvSpPr txBox="1"/>
          <p:nvPr>
            <p:ph idx="3" type="subTitle"/>
          </p:nvPr>
        </p:nvSpPr>
        <p:spPr>
          <a:xfrm>
            <a:off x="6006127" y="2201650"/>
            <a:ext cx="2362500" cy="22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Poppins"/>
                <a:ea typeface="Poppins"/>
                <a:cs typeface="Poppins"/>
                <a:sym typeface="Poppins"/>
              </a:rPr>
              <a:t>PROPUESTA DE SOLUCIÓN</a:t>
            </a:r>
            <a:endParaRPr b="1" sz="1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3B98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 móvil que </a:t>
            </a:r>
            <a:r>
              <a:rPr i="1" lang="en" sz="1100">
                <a:solidFill>
                  <a:srgbClr val="000000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ofrece un seguimiento personalizado actuando como un tutor digital,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genera preguntas, permite responder por alternativas o voz y te entrega la corrección  y resultados.</a:t>
            </a:r>
            <a:endParaRPr i="1" sz="1100">
              <a:solidFill>
                <a:srgbClr val="000000"/>
              </a:solidFill>
              <a:highlight>
                <a:srgbClr val="FFE100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19" name="Google Shape;419;p25"/>
          <p:cNvGrpSpPr/>
          <p:nvPr/>
        </p:nvGrpSpPr>
        <p:grpSpPr>
          <a:xfrm>
            <a:off x="6864960" y="1570453"/>
            <a:ext cx="644831" cy="631203"/>
            <a:chOff x="5708053" y="1856630"/>
            <a:chExt cx="320317" cy="313517"/>
          </a:xfrm>
        </p:grpSpPr>
        <p:sp>
          <p:nvSpPr>
            <p:cNvPr id="420" name="Google Shape;420;p25"/>
            <p:cNvSpPr/>
            <p:nvPr/>
          </p:nvSpPr>
          <p:spPr>
            <a:xfrm>
              <a:off x="5725961" y="1856630"/>
              <a:ext cx="284472" cy="269802"/>
            </a:xfrm>
            <a:custGeom>
              <a:rect b="b" l="l" r="r" t="t"/>
              <a:pathLst>
                <a:path extrusionOk="0" h="9085" w="9579">
                  <a:moveTo>
                    <a:pt x="4791" y="563"/>
                  </a:moveTo>
                  <a:cubicBezTo>
                    <a:pt x="4818" y="563"/>
                    <a:pt x="4883" y="572"/>
                    <a:pt x="4918" y="644"/>
                  </a:cubicBezTo>
                  <a:lnTo>
                    <a:pt x="5968" y="2767"/>
                  </a:lnTo>
                  <a:cubicBezTo>
                    <a:pt x="6070" y="2976"/>
                    <a:pt x="6270" y="3122"/>
                    <a:pt x="6499" y="3155"/>
                  </a:cubicBezTo>
                  <a:lnTo>
                    <a:pt x="8843" y="3495"/>
                  </a:lnTo>
                  <a:cubicBezTo>
                    <a:pt x="8920" y="3505"/>
                    <a:pt x="8950" y="3567"/>
                    <a:pt x="8959" y="3592"/>
                  </a:cubicBezTo>
                  <a:cubicBezTo>
                    <a:pt x="8967" y="3618"/>
                    <a:pt x="8979" y="3681"/>
                    <a:pt x="8924" y="3736"/>
                  </a:cubicBezTo>
                  <a:lnTo>
                    <a:pt x="7226" y="5391"/>
                  </a:lnTo>
                  <a:cubicBezTo>
                    <a:pt x="7058" y="5553"/>
                    <a:pt x="6983" y="5788"/>
                    <a:pt x="7023" y="6015"/>
                  </a:cubicBezTo>
                  <a:lnTo>
                    <a:pt x="7423" y="8351"/>
                  </a:lnTo>
                  <a:cubicBezTo>
                    <a:pt x="7435" y="8430"/>
                    <a:pt x="7386" y="8475"/>
                    <a:pt x="7366" y="8490"/>
                  </a:cubicBezTo>
                  <a:cubicBezTo>
                    <a:pt x="7352" y="8500"/>
                    <a:pt x="7322" y="8517"/>
                    <a:pt x="7283" y="8517"/>
                  </a:cubicBezTo>
                  <a:cubicBezTo>
                    <a:pt x="7263" y="8517"/>
                    <a:pt x="7241" y="8513"/>
                    <a:pt x="7217" y="8500"/>
                  </a:cubicBezTo>
                  <a:lnTo>
                    <a:pt x="5119" y="7397"/>
                  </a:lnTo>
                  <a:cubicBezTo>
                    <a:pt x="5017" y="7343"/>
                    <a:pt x="4905" y="7315"/>
                    <a:pt x="4791" y="7315"/>
                  </a:cubicBezTo>
                  <a:cubicBezTo>
                    <a:pt x="4679" y="7315"/>
                    <a:pt x="4565" y="7343"/>
                    <a:pt x="4463" y="7397"/>
                  </a:cubicBezTo>
                  <a:lnTo>
                    <a:pt x="2365" y="8500"/>
                  </a:lnTo>
                  <a:cubicBezTo>
                    <a:pt x="2341" y="8513"/>
                    <a:pt x="2318" y="8517"/>
                    <a:pt x="2298" y="8517"/>
                  </a:cubicBezTo>
                  <a:cubicBezTo>
                    <a:pt x="2260" y="8517"/>
                    <a:pt x="2231" y="8500"/>
                    <a:pt x="2217" y="8490"/>
                  </a:cubicBezTo>
                  <a:cubicBezTo>
                    <a:pt x="2196" y="8475"/>
                    <a:pt x="2147" y="8428"/>
                    <a:pt x="2160" y="8351"/>
                  </a:cubicBezTo>
                  <a:lnTo>
                    <a:pt x="2561" y="6015"/>
                  </a:lnTo>
                  <a:cubicBezTo>
                    <a:pt x="2599" y="5786"/>
                    <a:pt x="2522" y="5553"/>
                    <a:pt x="2356" y="5391"/>
                  </a:cubicBezTo>
                  <a:lnTo>
                    <a:pt x="660" y="3736"/>
                  </a:lnTo>
                  <a:cubicBezTo>
                    <a:pt x="603" y="3683"/>
                    <a:pt x="615" y="3618"/>
                    <a:pt x="623" y="3592"/>
                  </a:cubicBezTo>
                  <a:cubicBezTo>
                    <a:pt x="632" y="3567"/>
                    <a:pt x="660" y="3505"/>
                    <a:pt x="739" y="3495"/>
                  </a:cubicBezTo>
                  <a:lnTo>
                    <a:pt x="3083" y="3155"/>
                  </a:lnTo>
                  <a:cubicBezTo>
                    <a:pt x="3314" y="3122"/>
                    <a:pt x="3512" y="2976"/>
                    <a:pt x="3615" y="2767"/>
                  </a:cubicBezTo>
                  <a:lnTo>
                    <a:pt x="4664" y="644"/>
                  </a:lnTo>
                  <a:cubicBezTo>
                    <a:pt x="4699" y="572"/>
                    <a:pt x="4764" y="563"/>
                    <a:pt x="4791" y="563"/>
                  </a:cubicBezTo>
                  <a:close/>
                  <a:moveTo>
                    <a:pt x="4789" y="1"/>
                  </a:moveTo>
                  <a:cubicBezTo>
                    <a:pt x="4520" y="1"/>
                    <a:pt x="4277" y="151"/>
                    <a:pt x="4155" y="394"/>
                  </a:cubicBezTo>
                  <a:lnTo>
                    <a:pt x="3106" y="2519"/>
                  </a:lnTo>
                  <a:cubicBezTo>
                    <a:pt x="3086" y="2561"/>
                    <a:pt x="3046" y="2589"/>
                    <a:pt x="2999" y="2596"/>
                  </a:cubicBezTo>
                  <a:lnTo>
                    <a:pt x="655" y="2938"/>
                  </a:lnTo>
                  <a:cubicBezTo>
                    <a:pt x="387" y="2976"/>
                    <a:pt x="168" y="3160"/>
                    <a:pt x="84" y="3418"/>
                  </a:cubicBezTo>
                  <a:cubicBezTo>
                    <a:pt x="0" y="3676"/>
                    <a:pt x="69" y="3954"/>
                    <a:pt x="261" y="4143"/>
                  </a:cubicBezTo>
                  <a:lnTo>
                    <a:pt x="1959" y="5796"/>
                  </a:lnTo>
                  <a:cubicBezTo>
                    <a:pt x="1993" y="5830"/>
                    <a:pt x="2008" y="5876"/>
                    <a:pt x="2000" y="5922"/>
                  </a:cubicBezTo>
                  <a:lnTo>
                    <a:pt x="1599" y="8258"/>
                  </a:lnTo>
                  <a:cubicBezTo>
                    <a:pt x="1554" y="8525"/>
                    <a:pt x="1663" y="8790"/>
                    <a:pt x="1881" y="8949"/>
                  </a:cubicBezTo>
                  <a:cubicBezTo>
                    <a:pt x="2005" y="9038"/>
                    <a:pt x="2150" y="9084"/>
                    <a:pt x="2296" y="9084"/>
                  </a:cubicBezTo>
                  <a:cubicBezTo>
                    <a:pt x="2409" y="9084"/>
                    <a:pt x="2521" y="9057"/>
                    <a:pt x="2626" y="9003"/>
                  </a:cubicBezTo>
                  <a:lnTo>
                    <a:pt x="4722" y="7899"/>
                  </a:lnTo>
                  <a:cubicBezTo>
                    <a:pt x="4743" y="7889"/>
                    <a:pt x="4766" y="7884"/>
                    <a:pt x="4788" y="7884"/>
                  </a:cubicBezTo>
                  <a:cubicBezTo>
                    <a:pt x="4811" y="7884"/>
                    <a:pt x="4834" y="7889"/>
                    <a:pt x="4855" y="7899"/>
                  </a:cubicBezTo>
                  <a:lnTo>
                    <a:pt x="6951" y="9003"/>
                  </a:lnTo>
                  <a:cubicBezTo>
                    <a:pt x="7057" y="9056"/>
                    <a:pt x="7169" y="9085"/>
                    <a:pt x="7281" y="9085"/>
                  </a:cubicBezTo>
                  <a:cubicBezTo>
                    <a:pt x="7427" y="9085"/>
                    <a:pt x="7571" y="9038"/>
                    <a:pt x="7695" y="8949"/>
                  </a:cubicBezTo>
                  <a:cubicBezTo>
                    <a:pt x="7914" y="8790"/>
                    <a:pt x="8021" y="8524"/>
                    <a:pt x="7976" y="8258"/>
                  </a:cubicBezTo>
                  <a:lnTo>
                    <a:pt x="7576" y="5922"/>
                  </a:lnTo>
                  <a:cubicBezTo>
                    <a:pt x="7567" y="5876"/>
                    <a:pt x="7584" y="5830"/>
                    <a:pt x="7616" y="5796"/>
                  </a:cubicBezTo>
                  <a:lnTo>
                    <a:pt x="9317" y="4143"/>
                  </a:lnTo>
                  <a:cubicBezTo>
                    <a:pt x="9511" y="3954"/>
                    <a:pt x="9578" y="3676"/>
                    <a:pt x="9495" y="3418"/>
                  </a:cubicBezTo>
                  <a:cubicBezTo>
                    <a:pt x="9411" y="3160"/>
                    <a:pt x="9193" y="2976"/>
                    <a:pt x="8924" y="2938"/>
                  </a:cubicBezTo>
                  <a:lnTo>
                    <a:pt x="6579" y="2596"/>
                  </a:lnTo>
                  <a:cubicBezTo>
                    <a:pt x="6532" y="2589"/>
                    <a:pt x="6494" y="2561"/>
                    <a:pt x="6472" y="2519"/>
                  </a:cubicBezTo>
                  <a:lnTo>
                    <a:pt x="5424" y="394"/>
                  </a:lnTo>
                  <a:cubicBezTo>
                    <a:pt x="5303" y="151"/>
                    <a:pt x="5062" y="1"/>
                    <a:pt x="4789" y="1"/>
                  </a:cubicBezTo>
                  <a:close/>
                </a:path>
              </a:pathLst>
            </a:custGeom>
            <a:solidFill>
              <a:srgbClr val="13B981"/>
            </a:solidFill>
            <a:ln>
              <a:noFill/>
            </a:ln>
          </p:spPr>
          <p:txBody>
            <a:bodyPr anchorCtr="0" anchor="ctr" bIns="184050" lIns="184050" spcFirstLastPara="1" rIns="184050" wrap="square" tIns="184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5"/>
            <p:cNvSpPr/>
            <p:nvPr/>
          </p:nvSpPr>
          <p:spPr>
            <a:xfrm>
              <a:off x="5942960" y="1866727"/>
              <a:ext cx="27975" cy="29074"/>
            </a:xfrm>
            <a:custGeom>
              <a:rect b="b" l="l" r="r" t="t"/>
              <a:pathLst>
                <a:path extrusionOk="0" h="979" w="942">
                  <a:moveTo>
                    <a:pt x="622" y="0"/>
                  </a:moveTo>
                  <a:cubicBezTo>
                    <a:pt x="535" y="0"/>
                    <a:pt x="448" y="40"/>
                    <a:pt x="393" y="116"/>
                  </a:cubicBezTo>
                  <a:lnTo>
                    <a:pt x="93" y="530"/>
                  </a:lnTo>
                  <a:cubicBezTo>
                    <a:pt x="1" y="655"/>
                    <a:pt x="29" y="833"/>
                    <a:pt x="155" y="925"/>
                  </a:cubicBezTo>
                  <a:cubicBezTo>
                    <a:pt x="205" y="960"/>
                    <a:pt x="264" y="978"/>
                    <a:pt x="321" y="978"/>
                  </a:cubicBezTo>
                  <a:cubicBezTo>
                    <a:pt x="409" y="978"/>
                    <a:pt x="495" y="940"/>
                    <a:pt x="548" y="861"/>
                  </a:cubicBezTo>
                  <a:lnTo>
                    <a:pt x="848" y="449"/>
                  </a:lnTo>
                  <a:cubicBezTo>
                    <a:pt x="942" y="322"/>
                    <a:pt x="913" y="146"/>
                    <a:pt x="788" y="54"/>
                  </a:cubicBezTo>
                  <a:cubicBezTo>
                    <a:pt x="738" y="18"/>
                    <a:pt x="680" y="0"/>
                    <a:pt x="622" y="0"/>
                  </a:cubicBezTo>
                  <a:close/>
                </a:path>
              </a:pathLst>
            </a:custGeom>
            <a:solidFill>
              <a:srgbClr val="13B981"/>
            </a:solidFill>
            <a:ln>
              <a:noFill/>
            </a:ln>
          </p:spPr>
          <p:txBody>
            <a:bodyPr anchorCtr="0" anchor="ctr" bIns="184050" lIns="184050" spcFirstLastPara="1" rIns="184050" wrap="square" tIns="184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5"/>
            <p:cNvSpPr/>
            <p:nvPr/>
          </p:nvSpPr>
          <p:spPr>
            <a:xfrm>
              <a:off x="5765547" y="1866638"/>
              <a:ext cx="27975" cy="29104"/>
            </a:xfrm>
            <a:custGeom>
              <a:rect b="b" l="l" r="r" t="t"/>
              <a:pathLst>
                <a:path extrusionOk="0" h="980" w="942">
                  <a:moveTo>
                    <a:pt x="322" y="1"/>
                  </a:moveTo>
                  <a:cubicBezTo>
                    <a:pt x="264" y="1"/>
                    <a:pt x="206" y="18"/>
                    <a:pt x="156" y="55"/>
                  </a:cubicBezTo>
                  <a:cubicBezTo>
                    <a:pt x="30" y="148"/>
                    <a:pt x="0" y="322"/>
                    <a:pt x="92" y="451"/>
                  </a:cubicBezTo>
                  <a:lnTo>
                    <a:pt x="392" y="863"/>
                  </a:lnTo>
                  <a:cubicBezTo>
                    <a:pt x="447" y="938"/>
                    <a:pt x="534" y="980"/>
                    <a:pt x="620" y="980"/>
                  </a:cubicBezTo>
                  <a:cubicBezTo>
                    <a:pt x="678" y="980"/>
                    <a:pt x="735" y="963"/>
                    <a:pt x="785" y="926"/>
                  </a:cubicBezTo>
                  <a:cubicBezTo>
                    <a:pt x="913" y="834"/>
                    <a:pt x="941" y="657"/>
                    <a:pt x="851" y="529"/>
                  </a:cubicBezTo>
                  <a:lnTo>
                    <a:pt x="551" y="117"/>
                  </a:lnTo>
                  <a:cubicBezTo>
                    <a:pt x="495" y="42"/>
                    <a:pt x="409" y="1"/>
                    <a:pt x="322" y="1"/>
                  </a:cubicBezTo>
                  <a:close/>
                </a:path>
              </a:pathLst>
            </a:custGeom>
            <a:solidFill>
              <a:srgbClr val="13B981"/>
            </a:solidFill>
            <a:ln>
              <a:noFill/>
            </a:ln>
          </p:spPr>
          <p:txBody>
            <a:bodyPr anchorCtr="0" anchor="ctr" bIns="184050" lIns="184050" spcFirstLastPara="1" rIns="184050" wrap="square" tIns="184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5"/>
            <p:cNvSpPr/>
            <p:nvPr/>
          </p:nvSpPr>
          <p:spPr>
            <a:xfrm>
              <a:off x="5708053" y="2039181"/>
              <a:ext cx="33350" cy="21412"/>
            </a:xfrm>
            <a:custGeom>
              <a:rect b="b" l="l" r="r" t="t"/>
              <a:pathLst>
                <a:path extrusionOk="0" h="721" w="1123">
                  <a:moveTo>
                    <a:pt x="804" y="0"/>
                  </a:moveTo>
                  <a:cubicBezTo>
                    <a:pt x="775" y="0"/>
                    <a:pt x="746" y="5"/>
                    <a:pt x="717" y="14"/>
                  </a:cubicBezTo>
                  <a:lnTo>
                    <a:pt x="232" y="170"/>
                  </a:lnTo>
                  <a:cubicBezTo>
                    <a:pt x="82" y="218"/>
                    <a:pt x="0" y="377"/>
                    <a:pt x="49" y="526"/>
                  </a:cubicBezTo>
                  <a:cubicBezTo>
                    <a:pt x="88" y="645"/>
                    <a:pt x="198" y="721"/>
                    <a:pt x="317" y="721"/>
                  </a:cubicBezTo>
                  <a:cubicBezTo>
                    <a:pt x="345" y="721"/>
                    <a:pt x="376" y="716"/>
                    <a:pt x="404" y="706"/>
                  </a:cubicBezTo>
                  <a:lnTo>
                    <a:pt x="890" y="548"/>
                  </a:lnTo>
                  <a:cubicBezTo>
                    <a:pt x="1040" y="503"/>
                    <a:pt x="1122" y="344"/>
                    <a:pt x="1072" y="195"/>
                  </a:cubicBezTo>
                  <a:cubicBezTo>
                    <a:pt x="1033" y="76"/>
                    <a:pt x="922" y="0"/>
                    <a:pt x="804" y="0"/>
                  </a:cubicBezTo>
                  <a:close/>
                </a:path>
              </a:pathLst>
            </a:custGeom>
            <a:solidFill>
              <a:srgbClr val="13B981"/>
            </a:solidFill>
            <a:ln>
              <a:noFill/>
            </a:ln>
          </p:spPr>
          <p:txBody>
            <a:bodyPr anchorCtr="0" anchor="ctr" bIns="184050" lIns="184050" spcFirstLastPara="1" rIns="184050" wrap="square" tIns="184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5"/>
            <p:cNvSpPr/>
            <p:nvPr/>
          </p:nvSpPr>
          <p:spPr>
            <a:xfrm>
              <a:off x="5859867" y="2138133"/>
              <a:ext cx="16779" cy="32014"/>
            </a:xfrm>
            <a:custGeom>
              <a:rect b="b" l="l" r="r" t="t"/>
              <a:pathLst>
                <a:path extrusionOk="0" h="1078" w="565">
                  <a:moveTo>
                    <a:pt x="282" y="1"/>
                  </a:moveTo>
                  <a:cubicBezTo>
                    <a:pt x="126" y="1"/>
                    <a:pt x="1" y="126"/>
                    <a:pt x="1" y="284"/>
                  </a:cubicBezTo>
                  <a:lnTo>
                    <a:pt x="1" y="795"/>
                  </a:lnTo>
                  <a:cubicBezTo>
                    <a:pt x="1" y="952"/>
                    <a:pt x="126" y="1078"/>
                    <a:pt x="282" y="1078"/>
                  </a:cubicBezTo>
                  <a:cubicBezTo>
                    <a:pt x="439" y="1078"/>
                    <a:pt x="565" y="952"/>
                    <a:pt x="565" y="795"/>
                  </a:cubicBezTo>
                  <a:lnTo>
                    <a:pt x="565" y="284"/>
                  </a:lnTo>
                  <a:cubicBezTo>
                    <a:pt x="565" y="128"/>
                    <a:pt x="439" y="1"/>
                    <a:pt x="282" y="1"/>
                  </a:cubicBezTo>
                  <a:close/>
                </a:path>
              </a:pathLst>
            </a:custGeom>
            <a:solidFill>
              <a:srgbClr val="13B981"/>
            </a:solidFill>
            <a:ln>
              <a:noFill/>
            </a:ln>
          </p:spPr>
          <p:txBody>
            <a:bodyPr anchorCtr="0" anchor="ctr" bIns="184050" lIns="184050" spcFirstLastPara="1" rIns="184050" wrap="square" tIns="184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5"/>
            <p:cNvSpPr/>
            <p:nvPr/>
          </p:nvSpPr>
          <p:spPr>
            <a:xfrm>
              <a:off x="5995168" y="2039210"/>
              <a:ext cx="33202" cy="21531"/>
            </a:xfrm>
            <a:custGeom>
              <a:rect b="b" l="l" r="r" t="t"/>
              <a:pathLst>
                <a:path extrusionOk="0" h="725" w="1118">
                  <a:moveTo>
                    <a:pt x="317" y="1"/>
                  </a:moveTo>
                  <a:cubicBezTo>
                    <a:pt x="198" y="1"/>
                    <a:pt x="87" y="77"/>
                    <a:pt x="48" y="197"/>
                  </a:cubicBezTo>
                  <a:cubicBezTo>
                    <a:pt x="1" y="345"/>
                    <a:pt x="81" y="504"/>
                    <a:pt x="230" y="552"/>
                  </a:cubicBezTo>
                  <a:lnTo>
                    <a:pt x="716" y="710"/>
                  </a:lnTo>
                  <a:cubicBezTo>
                    <a:pt x="746" y="720"/>
                    <a:pt x="775" y="725"/>
                    <a:pt x="805" y="725"/>
                  </a:cubicBezTo>
                  <a:cubicBezTo>
                    <a:pt x="924" y="725"/>
                    <a:pt x="1034" y="649"/>
                    <a:pt x="1073" y="529"/>
                  </a:cubicBezTo>
                  <a:cubicBezTo>
                    <a:pt x="1118" y="378"/>
                    <a:pt x="1039" y="219"/>
                    <a:pt x="890" y="172"/>
                  </a:cubicBezTo>
                  <a:lnTo>
                    <a:pt x="404" y="15"/>
                  </a:lnTo>
                  <a:cubicBezTo>
                    <a:pt x="375" y="5"/>
                    <a:pt x="346" y="1"/>
                    <a:pt x="317" y="1"/>
                  </a:cubicBezTo>
                  <a:close/>
                </a:path>
              </a:pathLst>
            </a:custGeom>
            <a:solidFill>
              <a:srgbClr val="13B981"/>
            </a:solidFill>
            <a:ln>
              <a:noFill/>
            </a:ln>
          </p:spPr>
          <p:txBody>
            <a:bodyPr anchorCtr="0" anchor="ctr" bIns="184050" lIns="184050" spcFirstLastPara="1" rIns="184050" wrap="square" tIns="184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6" name="Google Shape;426;p25"/>
          <p:cNvGrpSpPr/>
          <p:nvPr/>
        </p:nvGrpSpPr>
        <p:grpSpPr>
          <a:xfrm>
            <a:off x="4329519" y="1584028"/>
            <a:ext cx="644848" cy="604039"/>
            <a:chOff x="2753373" y="2902523"/>
            <a:chExt cx="347552" cy="325557"/>
          </a:xfrm>
        </p:grpSpPr>
        <p:sp>
          <p:nvSpPr>
            <p:cNvPr id="427" name="Google Shape;427;p25"/>
            <p:cNvSpPr/>
            <p:nvPr/>
          </p:nvSpPr>
          <p:spPr>
            <a:xfrm>
              <a:off x="2807962" y="3018575"/>
              <a:ext cx="86418" cy="29506"/>
            </a:xfrm>
            <a:custGeom>
              <a:rect b="b" l="l" r="r" t="t"/>
              <a:pathLst>
                <a:path extrusionOk="0" h="927" w="2715">
                  <a:moveTo>
                    <a:pt x="1070" y="0"/>
                  </a:moveTo>
                  <a:cubicBezTo>
                    <a:pt x="752" y="0"/>
                    <a:pt x="464" y="31"/>
                    <a:pt x="274" y="57"/>
                  </a:cubicBezTo>
                  <a:cubicBezTo>
                    <a:pt x="107" y="93"/>
                    <a:pt x="0" y="224"/>
                    <a:pt x="0" y="390"/>
                  </a:cubicBezTo>
                  <a:lnTo>
                    <a:pt x="0" y="759"/>
                  </a:lnTo>
                  <a:cubicBezTo>
                    <a:pt x="0" y="843"/>
                    <a:pt x="72" y="926"/>
                    <a:pt x="155" y="926"/>
                  </a:cubicBezTo>
                  <a:cubicBezTo>
                    <a:pt x="250" y="926"/>
                    <a:pt x="322" y="843"/>
                    <a:pt x="322" y="759"/>
                  </a:cubicBezTo>
                  <a:lnTo>
                    <a:pt x="322" y="390"/>
                  </a:lnTo>
                  <a:cubicBezTo>
                    <a:pt x="322" y="390"/>
                    <a:pt x="322" y="367"/>
                    <a:pt x="334" y="367"/>
                  </a:cubicBezTo>
                  <a:cubicBezTo>
                    <a:pt x="493" y="349"/>
                    <a:pt x="758" y="318"/>
                    <a:pt x="1059" y="318"/>
                  </a:cubicBezTo>
                  <a:cubicBezTo>
                    <a:pt x="1163" y="318"/>
                    <a:pt x="1271" y="322"/>
                    <a:pt x="1381" y="331"/>
                  </a:cubicBezTo>
                  <a:cubicBezTo>
                    <a:pt x="1870" y="355"/>
                    <a:pt x="2239" y="486"/>
                    <a:pt x="2453" y="700"/>
                  </a:cubicBezTo>
                  <a:cubicBezTo>
                    <a:pt x="2483" y="730"/>
                    <a:pt x="2524" y="745"/>
                    <a:pt x="2566" y="745"/>
                  </a:cubicBezTo>
                  <a:cubicBezTo>
                    <a:pt x="2608" y="745"/>
                    <a:pt x="2649" y="730"/>
                    <a:pt x="2679" y="700"/>
                  </a:cubicBezTo>
                  <a:cubicBezTo>
                    <a:pt x="2715" y="640"/>
                    <a:pt x="2715" y="533"/>
                    <a:pt x="2655" y="474"/>
                  </a:cubicBezTo>
                  <a:cubicBezTo>
                    <a:pt x="2276" y="95"/>
                    <a:pt x="1627" y="0"/>
                    <a:pt x="1070" y="0"/>
                  </a:cubicBezTo>
                  <a:close/>
                </a:path>
              </a:pathLst>
            </a:custGeom>
            <a:solidFill>
              <a:srgbClr val="13B981"/>
            </a:solidFill>
            <a:ln cap="flat" cmpd="sng" w="9525">
              <a:solidFill>
                <a:srgbClr val="13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4000" lIns="154000" spcFirstLastPara="1" rIns="154000" wrap="square" tIns="154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5"/>
            <p:cNvSpPr/>
            <p:nvPr/>
          </p:nvSpPr>
          <p:spPr>
            <a:xfrm>
              <a:off x="2753373" y="2973376"/>
              <a:ext cx="195213" cy="254704"/>
            </a:xfrm>
            <a:custGeom>
              <a:rect b="b" l="l" r="r" t="t"/>
              <a:pathLst>
                <a:path extrusionOk="0" h="8002" w="6133">
                  <a:moveTo>
                    <a:pt x="4787" y="298"/>
                  </a:moveTo>
                  <a:lnTo>
                    <a:pt x="4787" y="1846"/>
                  </a:lnTo>
                  <a:cubicBezTo>
                    <a:pt x="4787" y="2084"/>
                    <a:pt x="4751" y="2310"/>
                    <a:pt x="4644" y="2513"/>
                  </a:cubicBezTo>
                  <a:cubicBezTo>
                    <a:pt x="4632" y="2537"/>
                    <a:pt x="4632" y="2560"/>
                    <a:pt x="4632" y="2596"/>
                  </a:cubicBezTo>
                  <a:lnTo>
                    <a:pt x="4632" y="3037"/>
                  </a:lnTo>
                  <a:cubicBezTo>
                    <a:pt x="4632" y="3465"/>
                    <a:pt x="4442" y="3870"/>
                    <a:pt x="4132" y="4168"/>
                  </a:cubicBezTo>
                  <a:cubicBezTo>
                    <a:pt x="3852" y="4437"/>
                    <a:pt x="3484" y="4590"/>
                    <a:pt x="3099" y="4590"/>
                  </a:cubicBezTo>
                  <a:cubicBezTo>
                    <a:pt x="3059" y="4590"/>
                    <a:pt x="3018" y="4588"/>
                    <a:pt x="2977" y="4584"/>
                  </a:cubicBezTo>
                  <a:cubicBezTo>
                    <a:pt x="2156" y="4525"/>
                    <a:pt x="1513" y="3811"/>
                    <a:pt x="1513" y="2977"/>
                  </a:cubicBezTo>
                  <a:lnTo>
                    <a:pt x="1513" y="2572"/>
                  </a:lnTo>
                  <a:cubicBezTo>
                    <a:pt x="1513" y="2549"/>
                    <a:pt x="1513" y="2537"/>
                    <a:pt x="1501" y="2501"/>
                  </a:cubicBezTo>
                  <a:cubicBezTo>
                    <a:pt x="1394" y="2298"/>
                    <a:pt x="1358" y="2072"/>
                    <a:pt x="1358" y="1834"/>
                  </a:cubicBezTo>
                  <a:lnTo>
                    <a:pt x="1358" y="1513"/>
                  </a:lnTo>
                  <a:cubicBezTo>
                    <a:pt x="1358" y="834"/>
                    <a:pt x="1894" y="298"/>
                    <a:pt x="2561" y="298"/>
                  </a:cubicBezTo>
                  <a:close/>
                  <a:moveTo>
                    <a:pt x="3930" y="4680"/>
                  </a:moveTo>
                  <a:lnTo>
                    <a:pt x="3930" y="4977"/>
                  </a:lnTo>
                  <a:lnTo>
                    <a:pt x="3061" y="5573"/>
                  </a:lnTo>
                  <a:lnTo>
                    <a:pt x="2203" y="4977"/>
                  </a:lnTo>
                  <a:lnTo>
                    <a:pt x="2203" y="4680"/>
                  </a:lnTo>
                  <a:cubicBezTo>
                    <a:pt x="2430" y="4799"/>
                    <a:pt x="2680" y="4870"/>
                    <a:pt x="2942" y="4882"/>
                  </a:cubicBezTo>
                  <a:lnTo>
                    <a:pt x="3061" y="4882"/>
                  </a:lnTo>
                  <a:cubicBezTo>
                    <a:pt x="3358" y="4882"/>
                    <a:pt x="3656" y="4811"/>
                    <a:pt x="3930" y="4680"/>
                  </a:cubicBezTo>
                  <a:close/>
                  <a:moveTo>
                    <a:pt x="2084" y="5275"/>
                  </a:moveTo>
                  <a:lnTo>
                    <a:pt x="2846" y="5787"/>
                  </a:lnTo>
                  <a:lnTo>
                    <a:pt x="2430" y="6180"/>
                  </a:lnTo>
                  <a:lnTo>
                    <a:pt x="2406" y="6180"/>
                  </a:lnTo>
                  <a:lnTo>
                    <a:pt x="1918" y="5442"/>
                  </a:lnTo>
                  <a:lnTo>
                    <a:pt x="2084" y="5275"/>
                  </a:lnTo>
                  <a:close/>
                  <a:moveTo>
                    <a:pt x="4073" y="5251"/>
                  </a:moveTo>
                  <a:lnTo>
                    <a:pt x="4239" y="5418"/>
                  </a:lnTo>
                  <a:lnTo>
                    <a:pt x="3739" y="6180"/>
                  </a:lnTo>
                  <a:lnTo>
                    <a:pt x="3716" y="6180"/>
                  </a:lnTo>
                  <a:lnTo>
                    <a:pt x="3311" y="5775"/>
                  </a:lnTo>
                  <a:lnTo>
                    <a:pt x="4073" y="5251"/>
                  </a:lnTo>
                  <a:close/>
                  <a:moveTo>
                    <a:pt x="2549" y="1"/>
                  </a:moveTo>
                  <a:cubicBezTo>
                    <a:pt x="1715" y="1"/>
                    <a:pt x="1025" y="691"/>
                    <a:pt x="1025" y="1525"/>
                  </a:cubicBezTo>
                  <a:lnTo>
                    <a:pt x="1025" y="1870"/>
                  </a:lnTo>
                  <a:cubicBezTo>
                    <a:pt x="1025" y="2132"/>
                    <a:pt x="1084" y="2406"/>
                    <a:pt x="1191" y="2644"/>
                  </a:cubicBezTo>
                  <a:lnTo>
                    <a:pt x="1191" y="3001"/>
                  </a:lnTo>
                  <a:cubicBezTo>
                    <a:pt x="1191" y="3596"/>
                    <a:pt x="1453" y="4132"/>
                    <a:pt x="1870" y="4489"/>
                  </a:cubicBezTo>
                  <a:lnTo>
                    <a:pt x="1870" y="5025"/>
                  </a:lnTo>
                  <a:lnTo>
                    <a:pt x="1572" y="5335"/>
                  </a:lnTo>
                  <a:cubicBezTo>
                    <a:pt x="1549" y="5358"/>
                    <a:pt x="1537" y="5406"/>
                    <a:pt x="1537" y="5454"/>
                  </a:cubicBezTo>
                  <a:lnTo>
                    <a:pt x="548" y="5811"/>
                  </a:lnTo>
                  <a:cubicBezTo>
                    <a:pt x="227" y="5930"/>
                    <a:pt x="1" y="6239"/>
                    <a:pt x="1" y="6597"/>
                  </a:cubicBezTo>
                  <a:lnTo>
                    <a:pt x="1" y="7823"/>
                  </a:lnTo>
                  <a:cubicBezTo>
                    <a:pt x="1" y="7906"/>
                    <a:pt x="72" y="7978"/>
                    <a:pt x="167" y="7978"/>
                  </a:cubicBezTo>
                  <a:cubicBezTo>
                    <a:pt x="251" y="7978"/>
                    <a:pt x="322" y="7906"/>
                    <a:pt x="322" y="7823"/>
                  </a:cubicBezTo>
                  <a:lnTo>
                    <a:pt x="322" y="6597"/>
                  </a:lnTo>
                  <a:cubicBezTo>
                    <a:pt x="322" y="6370"/>
                    <a:pt x="465" y="6180"/>
                    <a:pt x="668" y="6108"/>
                  </a:cubicBezTo>
                  <a:lnTo>
                    <a:pt x="1691" y="5739"/>
                  </a:lnTo>
                  <a:lnTo>
                    <a:pt x="2120" y="6370"/>
                  </a:lnTo>
                  <a:cubicBezTo>
                    <a:pt x="2180" y="6466"/>
                    <a:pt x="2275" y="6501"/>
                    <a:pt x="2358" y="6525"/>
                  </a:cubicBezTo>
                  <a:lnTo>
                    <a:pt x="2394" y="6525"/>
                  </a:lnTo>
                  <a:cubicBezTo>
                    <a:pt x="2489" y="6525"/>
                    <a:pt x="2561" y="6489"/>
                    <a:pt x="2632" y="6430"/>
                  </a:cubicBezTo>
                  <a:lnTo>
                    <a:pt x="2906" y="6168"/>
                  </a:lnTo>
                  <a:lnTo>
                    <a:pt x="2906" y="7835"/>
                  </a:lnTo>
                  <a:cubicBezTo>
                    <a:pt x="2906" y="7918"/>
                    <a:pt x="2977" y="8002"/>
                    <a:pt x="3061" y="8002"/>
                  </a:cubicBezTo>
                  <a:cubicBezTo>
                    <a:pt x="3156" y="8002"/>
                    <a:pt x="3227" y="7918"/>
                    <a:pt x="3227" y="7835"/>
                  </a:cubicBezTo>
                  <a:lnTo>
                    <a:pt x="3227" y="6168"/>
                  </a:lnTo>
                  <a:lnTo>
                    <a:pt x="3501" y="6430"/>
                  </a:lnTo>
                  <a:cubicBezTo>
                    <a:pt x="3549" y="6489"/>
                    <a:pt x="3644" y="6525"/>
                    <a:pt x="3739" y="6525"/>
                  </a:cubicBezTo>
                  <a:lnTo>
                    <a:pt x="3763" y="6525"/>
                  </a:lnTo>
                  <a:cubicBezTo>
                    <a:pt x="3870" y="6501"/>
                    <a:pt x="3954" y="6466"/>
                    <a:pt x="4001" y="6370"/>
                  </a:cubicBezTo>
                  <a:lnTo>
                    <a:pt x="4430" y="5739"/>
                  </a:lnTo>
                  <a:lnTo>
                    <a:pt x="5466" y="6108"/>
                  </a:lnTo>
                  <a:cubicBezTo>
                    <a:pt x="5668" y="6180"/>
                    <a:pt x="5799" y="6370"/>
                    <a:pt x="5799" y="6597"/>
                  </a:cubicBezTo>
                  <a:lnTo>
                    <a:pt x="5799" y="7823"/>
                  </a:lnTo>
                  <a:cubicBezTo>
                    <a:pt x="5799" y="7906"/>
                    <a:pt x="5882" y="7978"/>
                    <a:pt x="5966" y="7978"/>
                  </a:cubicBezTo>
                  <a:cubicBezTo>
                    <a:pt x="6061" y="7978"/>
                    <a:pt x="6133" y="7906"/>
                    <a:pt x="6133" y="7823"/>
                  </a:cubicBezTo>
                  <a:lnTo>
                    <a:pt x="6133" y="6597"/>
                  </a:lnTo>
                  <a:cubicBezTo>
                    <a:pt x="6121" y="6228"/>
                    <a:pt x="5894" y="5918"/>
                    <a:pt x="5561" y="5787"/>
                  </a:cubicBezTo>
                  <a:lnTo>
                    <a:pt x="4585" y="5442"/>
                  </a:lnTo>
                  <a:cubicBezTo>
                    <a:pt x="4585" y="5394"/>
                    <a:pt x="4561" y="5346"/>
                    <a:pt x="4537" y="5323"/>
                  </a:cubicBezTo>
                  <a:lnTo>
                    <a:pt x="4239" y="5001"/>
                  </a:lnTo>
                  <a:lnTo>
                    <a:pt x="4239" y="4489"/>
                  </a:lnTo>
                  <a:cubicBezTo>
                    <a:pt x="4275" y="4454"/>
                    <a:pt x="4299" y="4430"/>
                    <a:pt x="4335" y="4406"/>
                  </a:cubicBezTo>
                  <a:cubicBezTo>
                    <a:pt x="4704" y="4049"/>
                    <a:pt x="4930" y="3561"/>
                    <a:pt x="4930" y="3060"/>
                  </a:cubicBezTo>
                  <a:lnTo>
                    <a:pt x="4930" y="2644"/>
                  </a:lnTo>
                  <a:cubicBezTo>
                    <a:pt x="5037" y="2382"/>
                    <a:pt x="5085" y="2132"/>
                    <a:pt x="5085" y="1870"/>
                  </a:cubicBezTo>
                  <a:lnTo>
                    <a:pt x="5085" y="167"/>
                  </a:lnTo>
                  <a:cubicBezTo>
                    <a:pt x="5085" y="84"/>
                    <a:pt x="5013" y="1"/>
                    <a:pt x="4930" y="1"/>
                  </a:cubicBezTo>
                  <a:close/>
                </a:path>
              </a:pathLst>
            </a:custGeom>
            <a:solidFill>
              <a:srgbClr val="13B981"/>
            </a:solidFill>
            <a:ln cap="flat" cmpd="sng" w="9525">
              <a:solidFill>
                <a:srgbClr val="13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4000" lIns="154000" spcFirstLastPara="1" rIns="154000" wrap="square" tIns="154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5"/>
            <p:cNvSpPr/>
            <p:nvPr/>
          </p:nvSpPr>
          <p:spPr>
            <a:xfrm>
              <a:off x="2905361" y="3195072"/>
              <a:ext cx="10631" cy="32244"/>
            </a:xfrm>
            <a:custGeom>
              <a:rect b="b" l="l" r="r" t="t"/>
              <a:pathLst>
                <a:path extrusionOk="0" h="1013" w="334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lnTo>
                    <a:pt x="0" y="858"/>
                  </a:lnTo>
                  <a:cubicBezTo>
                    <a:pt x="0" y="941"/>
                    <a:pt x="72" y="1013"/>
                    <a:pt x="167" y="1013"/>
                  </a:cubicBezTo>
                  <a:cubicBezTo>
                    <a:pt x="250" y="1013"/>
                    <a:pt x="334" y="941"/>
                    <a:pt x="334" y="858"/>
                  </a:cubicBezTo>
                  <a:lnTo>
                    <a:pt x="334" y="167"/>
                  </a:lnTo>
                  <a:cubicBezTo>
                    <a:pt x="334" y="60"/>
                    <a:pt x="250" y="1"/>
                    <a:pt x="167" y="1"/>
                  </a:cubicBezTo>
                  <a:close/>
                </a:path>
              </a:pathLst>
            </a:custGeom>
            <a:solidFill>
              <a:srgbClr val="13B981"/>
            </a:solidFill>
            <a:ln cap="flat" cmpd="sng" w="9525">
              <a:solidFill>
                <a:srgbClr val="13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4000" lIns="154000" spcFirstLastPara="1" rIns="154000" wrap="square" tIns="154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5"/>
            <p:cNvSpPr/>
            <p:nvPr/>
          </p:nvSpPr>
          <p:spPr>
            <a:xfrm>
              <a:off x="2939069" y="2934735"/>
              <a:ext cx="161856" cy="169049"/>
            </a:xfrm>
            <a:custGeom>
              <a:rect b="b" l="l" r="r" t="t"/>
              <a:pathLst>
                <a:path extrusionOk="0" h="5311" w="5085">
                  <a:moveTo>
                    <a:pt x="668" y="0"/>
                  </a:moveTo>
                  <a:cubicBezTo>
                    <a:pt x="299" y="0"/>
                    <a:pt x="1" y="298"/>
                    <a:pt x="1" y="667"/>
                  </a:cubicBezTo>
                  <a:lnTo>
                    <a:pt x="1" y="3393"/>
                  </a:lnTo>
                  <a:cubicBezTo>
                    <a:pt x="1" y="3763"/>
                    <a:pt x="299" y="4060"/>
                    <a:pt x="668" y="4060"/>
                  </a:cubicBezTo>
                  <a:lnTo>
                    <a:pt x="977" y="4060"/>
                  </a:lnTo>
                  <a:lnTo>
                    <a:pt x="739" y="5001"/>
                  </a:lnTo>
                  <a:cubicBezTo>
                    <a:pt x="715" y="5108"/>
                    <a:pt x="763" y="5203"/>
                    <a:pt x="846" y="5263"/>
                  </a:cubicBezTo>
                  <a:cubicBezTo>
                    <a:pt x="894" y="5298"/>
                    <a:pt x="941" y="5310"/>
                    <a:pt x="977" y="5310"/>
                  </a:cubicBezTo>
                  <a:cubicBezTo>
                    <a:pt x="1025" y="5310"/>
                    <a:pt x="1084" y="5298"/>
                    <a:pt x="1132" y="5263"/>
                  </a:cubicBezTo>
                  <a:lnTo>
                    <a:pt x="2763" y="4072"/>
                  </a:lnTo>
                  <a:lnTo>
                    <a:pt x="4418" y="4072"/>
                  </a:lnTo>
                  <a:cubicBezTo>
                    <a:pt x="4787" y="4072"/>
                    <a:pt x="5085" y="3774"/>
                    <a:pt x="5085" y="3405"/>
                  </a:cubicBezTo>
                  <a:lnTo>
                    <a:pt x="5085" y="679"/>
                  </a:lnTo>
                  <a:cubicBezTo>
                    <a:pt x="5061" y="298"/>
                    <a:pt x="4751" y="0"/>
                    <a:pt x="4394" y="0"/>
                  </a:cubicBezTo>
                  <a:lnTo>
                    <a:pt x="3537" y="0"/>
                  </a:lnTo>
                  <a:cubicBezTo>
                    <a:pt x="3454" y="0"/>
                    <a:pt x="3370" y="72"/>
                    <a:pt x="3370" y="167"/>
                  </a:cubicBezTo>
                  <a:cubicBezTo>
                    <a:pt x="3370" y="250"/>
                    <a:pt x="3454" y="322"/>
                    <a:pt x="3537" y="322"/>
                  </a:cubicBezTo>
                  <a:lnTo>
                    <a:pt x="4394" y="322"/>
                  </a:lnTo>
                  <a:cubicBezTo>
                    <a:pt x="4585" y="322"/>
                    <a:pt x="4751" y="488"/>
                    <a:pt x="4751" y="679"/>
                  </a:cubicBezTo>
                  <a:lnTo>
                    <a:pt x="4751" y="3405"/>
                  </a:lnTo>
                  <a:cubicBezTo>
                    <a:pt x="4751" y="3596"/>
                    <a:pt x="4585" y="3763"/>
                    <a:pt x="4394" y="3763"/>
                  </a:cubicBezTo>
                  <a:lnTo>
                    <a:pt x="2692" y="3763"/>
                  </a:lnTo>
                  <a:cubicBezTo>
                    <a:pt x="2668" y="3763"/>
                    <a:pt x="2632" y="3774"/>
                    <a:pt x="2608" y="3798"/>
                  </a:cubicBezTo>
                  <a:lnTo>
                    <a:pt x="1084" y="4894"/>
                  </a:lnTo>
                  <a:lnTo>
                    <a:pt x="1322" y="3953"/>
                  </a:lnTo>
                  <a:cubicBezTo>
                    <a:pt x="1334" y="3917"/>
                    <a:pt x="1322" y="3858"/>
                    <a:pt x="1287" y="3822"/>
                  </a:cubicBezTo>
                  <a:cubicBezTo>
                    <a:pt x="1263" y="3774"/>
                    <a:pt x="1215" y="3763"/>
                    <a:pt x="1180" y="3763"/>
                  </a:cubicBezTo>
                  <a:lnTo>
                    <a:pt x="668" y="3763"/>
                  </a:lnTo>
                  <a:cubicBezTo>
                    <a:pt x="477" y="3763"/>
                    <a:pt x="310" y="3596"/>
                    <a:pt x="310" y="3405"/>
                  </a:cubicBezTo>
                  <a:lnTo>
                    <a:pt x="310" y="679"/>
                  </a:lnTo>
                  <a:cubicBezTo>
                    <a:pt x="310" y="488"/>
                    <a:pt x="477" y="322"/>
                    <a:pt x="668" y="322"/>
                  </a:cubicBezTo>
                  <a:lnTo>
                    <a:pt x="1513" y="322"/>
                  </a:lnTo>
                  <a:cubicBezTo>
                    <a:pt x="1608" y="322"/>
                    <a:pt x="1680" y="250"/>
                    <a:pt x="1680" y="167"/>
                  </a:cubicBezTo>
                  <a:cubicBezTo>
                    <a:pt x="1680" y="72"/>
                    <a:pt x="1608" y="0"/>
                    <a:pt x="1513" y="0"/>
                  </a:cubicBezTo>
                  <a:close/>
                </a:path>
              </a:pathLst>
            </a:custGeom>
            <a:solidFill>
              <a:srgbClr val="13B981"/>
            </a:solidFill>
            <a:ln cap="flat" cmpd="sng" w="9525">
              <a:solidFill>
                <a:srgbClr val="13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4000" lIns="154000" spcFirstLastPara="1" rIns="154000" wrap="square" tIns="154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5"/>
            <p:cNvSpPr/>
            <p:nvPr/>
          </p:nvSpPr>
          <p:spPr>
            <a:xfrm>
              <a:off x="3002379" y="2902523"/>
              <a:ext cx="32244" cy="96668"/>
            </a:xfrm>
            <a:custGeom>
              <a:rect b="b" l="l" r="r" t="t"/>
              <a:pathLst>
                <a:path extrusionOk="0" h="3037" w="1013">
                  <a:moveTo>
                    <a:pt x="691" y="310"/>
                  </a:moveTo>
                  <a:lnTo>
                    <a:pt x="536" y="2727"/>
                  </a:lnTo>
                  <a:lnTo>
                    <a:pt x="500" y="2727"/>
                  </a:lnTo>
                  <a:lnTo>
                    <a:pt x="345" y="310"/>
                  </a:lnTo>
                  <a:close/>
                  <a:moveTo>
                    <a:pt x="167" y="0"/>
                  </a:moveTo>
                  <a:cubicBezTo>
                    <a:pt x="119" y="0"/>
                    <a:pt x="84" y="12"/>
                    <a:pt x="48" y="48"/>
                  </a:cubicBezTo>
                  <a:cubicBezTo>
                    <a:pt x="24" y="72"/>
                    <a:pt x="0" y="119"/>
                    <a:pt x="0" y="167"/>
                  </a:cubicBezTo>
                  <a:lnTo>
                    <a:pt x="167" y="2881"/>
                  </a:lnTo>
                  <a:cubicBezTo>
                    <a:pt x="167" y="2977"/>
                    <a:pt x="238" y="3036"/>
                    <a:pt x="334" y="3036"/>
                  </a:cubicBezTo>
                  <a:lnTo>
                    <a:pt x="679" y="3036"/>
                  </a:lnTo>
                  <a:cubicBezTo>
                    <a:pt x="762" y="3036"/>
                    <a:pt x="822" y="2977"/>
                    <a:pt x="834" y="2881"/>
                  </a:cubicBezTo>
                  <a:lnTo>
                    <a:pt x="1000" y="167"/>
                  </a:lnTo>
                  <a:cubicBezTo>
                    <a:pt x="1012" y="119"/>
                    <a:pt x="1000" y="72"/>
                    <a:pt x="977" y="48"/>
                  </a:cubicBezTo>
                  <a:cubicBezTo>
                    <a:pt x="941" y="12"/>
                    <a:pt x="893" y="0"/>
                    <a:pt x="857" y="0"/>
                  </a:cubicBezTo>
                  <a:close/>
                </a:path>
              </a:pathLst>
            </a:custGeom>
            <a:solidFill>
              <a:srgbClr val="13B981"/>
            </a:solidFill>
            <a:ln cap="flat" cmpd="sng" w="9525">
              <a:solidFill>
                <a:srgbClr val="13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4000" lIns="154000" spcFirstLastPara="1" rIns="154000" wrap="square" tIns="154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5"/>
            <p:cNvSpPr/>
            <p:nvPr/>
          </p:nvSpPr>
          <p:spPr>
            <a:xfrm>
              <a:off x="3003143" y="3005206"/>
              <a:ext cx="32244" cy="32244"/>
            </a:xfrm>
            <a:custGeom>
              <a:rect b="b" l="l" r="r" t="t"/>
              <a:pathLst>
                <a:path extrusionOk="0" h="1013" w="1013">
                  <a:moveTo>
                    <a:pt x="500" y="322"/>
                  </a:moveTo>
                  <a:cubicBezTo>
                    <a:pt x="607" y="322"/>
                    <a:pt x="679" y="406"/>
                    <a:pt x="679" y="513"/>
                  </a:cubicBezTo>
                  <a:cubicBezTo>
                    <a:pt x="679" y="608"/>
                    <a:pt x="595" y="691"/>
                    <a:pt x="500" y="691"/>
                  </a:cubicBezTo>
                  <a:cubicBezTo>
                    <a:pt x="393" y="691"/>
                    <a:pt x="321" y="608"/>
                    <a:pt x="321" y="513"/>
                  </a:cubicBezTo>
                  <a:cubicBezTo>
                    <a:pt x="321" y="406"/>
                    <a:pt x="393" y="322"/>
                    <a:pt x="500" y="322"/>
                  </a:cubicBezTo>
                  <a:close/>
                  <a:moveTo>
                    <a:pt x="500" y="1"/>
                  </a:moveTo>
                  <a:cubicBezTo>
                    <a:pt x="214" y="1"/>
                    <a:pt x="0" y="227"/>
                    <a:pt x="0" y="513"/>
                  </a:cubicBezTo>
                  <a:cubicBezTo>
                    <a:pt x="0" y="787"/>
                    <a:pt x="214" y="1013"/>
                    <a:pt x="500" y="1013"/>
                  </a:cubicBezTo>
                  <a:cubicBezTo>
                    <a:pt x="786" y="1013"/>
                    <a:pt x="1012" y="787"/>
                    <a:pt x="1012" y="513"/>
                  </a:cubicBezTo>
                  <a:cubicBezTo>
                    <a:pt x="988" y="227"/>
                    <a:pt x="762" y="1"/>
                    <a:pt x="500" y="1"/>
                  </a:cubicBezTo>
                  <a:close/>
                </a:path>
              </a:pathLst>
            </a:custGeom>
            <a:solidFill>
              <a:srgbClr val="13B981"/>
            </a:solidFill>
            <a:ln cap="flat" cmpd="sng" w="9525">
              <a:solidFill>
                <a:srgbClr val="13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4000" lIns="154000" spcFirstLastPara="1" rIns="154000" wrap="square" tIns="154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3" name="Google Shape;433;p25"/>
          <p:cNvSpPr txBox="1"/>
          <p:nvPr>
            <p:ph idx="4294967295" type="subTitle"/>
          </p:nvPr>
        </p:nvSpPr>
        <p:spPr>
          <a:xfrm>
            <a:off x="727056" y="2847777"/>
            <a:ext cx="2312100" cy="258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Estudiantes reprueban el examen de grado.</a:t>
            </a:r>
            <a:endParaRPr sz="1000">
              <a:highlight>
                <a:srgbClr val="FFE100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4" name="Google Shape;434;p25"/>
          <p:cNvSpPr txBox="1"/>
          <p:nvPr>
            <p:ph idx="4294967295" type="subTitle"/>
          </p:nvPr>
        </p:nvSpPr>
        <p:spPr>
          <a:xfrm>
            <a:off x="727056" y="3284414"/>
            <a:ext cx="2312100" cy="258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00">
                <a:latin typeface="Poppins"/>
                <a:ea typeface="Poppins"/>
                <a:cs typeface="Poppins"/>
                <a:sym typeface="Poppins"/>
              </a:rPr>
              <a:t>En algunas facultades solo el</a:t>
            </a:r>
            <a:endParaRPr b="1" i="1" sz="800">
              <a:highlight>
                <a:srgbClr val="FFE100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5" name="Google Shape;435;p25"/>
          <p:cNvSpPr txBox="1"/>
          <p:nvPr>
            <p:ph idx="4294967295" type="title"/>
          </p:nvPr>
        </p:nvSpPr>
        <p:spPr>
          <a:xfrm>
            <a:off x="1003686" y="1689025"/>
            <a:ext cx="1764600" cy="51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400">
                <a:solidFill>
                  <a:srgbClr val="13B98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+4.000</a:t>
            </a:r>
            <a:endParaRPr b="0" sz="3400">
              <a:solidFill>
                <a:srgbClr val="13B98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436" name="Google Shape;436;p25"/>
          <p:cNvSpPr txBox="1"/>
          <p:nvPr>
            <p:ph idx="4294967295" type="title"/>
          </p:nvPr>
        </p:nvSpPr>
        <p:spPr>
          <a:xfrm>
            <a:off x="1007350" y="3619427"/>
            <a:ext cx="1764600" cy="31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solidFill>
                  <a:srgbClr val="13B98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43% </a:t>
            </a:r>
            <a:r>
              <a:rPr b="0" lang="en" sz="1400">
                <a:solidFill>
                  <a:srgbClr val="13B98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aprueba</a:t>
            </a:r>
            <a:endParaRPr b="0" sz="1400">
              <a:solidFill>
                <a:srgbClr val="13B98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437" name="Google Shape;437;p25"/>
          <p:cNvSpPr txBox="1"/>
          <p:nvPr>
            <p:ph idx="4294967295" type="subTitle"/>
          </p:nvPr>
        </p:nvSpPr>
        <p:spPr>
          <a:xfrm>
            <a:off x="930700" y="4133350"/>
            <a:ext cx="2005500" cy="735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600">
                <a:latin typeface="Poppins"/>
                <a:ea typeface="Poppins"/>
                <a:cs typeface="Poppins"/>
                <a:sym typeface="Poppins"/>
              </a:rPr>
              <a:t>Fuentes:</a:t>
            </a:r>
            <a:endParaRPr i="1" sz="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6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La Tercera (2008); </a:t>
            </a:r>
            <a:r>
              <a:rPr i="1" lang="en" sz="6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5"/>
              </a:rPr>
              <a:t>El Mercurio Legal (2018);</a:t>
            </a:r>
            <a:endParaRPr i="1" sz="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6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6"/>
              </a:rPr>
              <a:t>RPUD U. de Chile (2021);</a:t>
            </a:r>
            <a:r>
              <a:rPr i="1" lang="en" sz="6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7"/>
              </a:rPr>
              <a:t> Diario El Día (2025).</a:t>
            </a:r>
            <a:endParaRPr i="1" sz="600">
              <a:highlight>
                <a:srgbClr val="FFE100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26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5863" y="660001"/>
            <a:ext cx="4535725" cy="353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7"/>
          <p:cNvSpPr txBox="1"/>
          <p:nvPr>
            <p:ph type="title"/>
          </p:nvPr>
        </p:nvSpPr>
        <p:spPr>
          <a:xfrm>
            <a:off x="1563375" y="694275"/>
            <a:ext cx="435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OBJETIVO GENERAL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8" name="Google Shape;448;p27"/>
          <p:cNvSpPr txBox="1"/>
          <p:nvPr>
            <p:ph idx="3" type="subTitle"/>
          </p:nvPr>
        </p:nvSpPr>
        <p:spPr>
          <a:xfrm>
            <a:off x="1588050" y="2062850"/>
            <a:ext cx="36702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Contribuir a mejorar la preparación de los estudiantes 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de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 Derecho en Chile para el </a:t>
            </a:r>
            <a:r>
              <a:rPr lang="en"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examen de grado,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abordando la falta de herramientas personalizadas que faciliten la práctica constante, la detección de debilidades y el seguimiento del progreso.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9" name="Google Shape;449;p27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27" title="law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9325" y="1879323"/>
            <a:ext cx="2069475" cy="182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8"/>
          <p:cNvSpPr txBox="1"/>
          <p:nvPr>
            <p:ph type="title"/>
          </p:nvPr>
        </p:nvSpPr>
        <p:spPr>
          <a:xfrm>
            <a:off x="1563375" y="694275"/>
            <a:ext cx="516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OBJETIVOS ESPECIFICOS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56" name="Google Shape;456;p28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8"/>
          <p:cNvSpPr txBox="1"/>
          <p:nvPr>
            <p:ph idx="1" type="subTitle"/>
          </p:nvPr>
        </p:nvSpPr>
        <p:spPr>
          <a:xfrm>
            <a:off x="1862200" y="1858847"/>
            <a:ext cx="2570100" cy="12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Optimizar el tiempo de estudio.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8" name="Google Shape;458;p28"/>
          <p:cNvSpPr txBox="1"/>
          <p:nvPr>
            <p:ph idx="4294967295" type="title"/>
          </p:nvPr>
        </p:nvSpPr>
        <p:spPr>
          <a:xfrm>
            <a:off x="1287675" y="1694983"/>
            <a:ext cx="7347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3B98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>
              <a:solidFill>
                <a:srgbClr val="13B9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9" name="Google Shape;459;p28"/>
          <p:cNvSpPr txBox="1"/>
          <p:nvPr>
            <p:ph idx="1" type="subTitle"/>
          </p:nvPr>
        </p:nvSpPr>
        <p:spPr>
          <a:xfrm>
            <a:off x="5280400" y="1835300"/>
            <a:ext cx="27123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Mejorar la comprensión de los temas difíciles.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0" name="Google Shape;460;p28"/>
          <p:cNvSpPr txBox="1"/>
          <p:nvPr>
            <p:ph idx="4294967295" type="title"/>
          </p:nvPr>
        </p:nvSpPr>
        <p:spPr>
          <a:xfrm>
            <a:off x="4705875" y="1694983"/>
            <a:ext cx="7347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3B98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>
              <a:solidFill>
                <a:srgbClr val="13B9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1" name="Google Shape;461;p28"/>
          <p:cNvSpPr txBox="1"/>
          <p:nvPr>
            <p:ph idx="1" type="subTitle"/>
          </p:nvPr>
        </p:nvSpPr>
        <p:spPr>
          <a:xfrm>
            <a:off x="1862204" y="3185392"/>
            <a:ext cx="2570100" cy="7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Potenciar el aprendizaje mediante práctica inteligente.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2" name="Google Shape;462;p28"/>
          <p:cNvSpPr txBox="1"/>
          <p:nvPr>
            <p:ph idx="4294967295" type="title"/>
          </p:nvPr>
        </p:nvSpPr>
        <p:spPr>
          <a:xfrm>
            <a:off x="1287675" y="3021533"/>
            <a:ext cx="7347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3B98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>
              <a:solidFill>
                <a:srgbClr val="13B9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3" name="Google Shape;463;p28"/>
          <p:cNvSpPr txBox="1"/>
          <p:nvPr>
            <p:ph idx="1" type="subTitle"/>
          </p:nvPr>
        </p:nvSpPr>
        <p:spPr>
          <a:xfrm>
            <a:off x="5280400" y="3178525"/>
            <a:ext cx="2570100" cy="7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Construcción de hábitos de estudio constantes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4" name="Google Shape;464;p28"/>
          <p:cNvSpPr txBox="1"/>
          <p:nvPr>
            <p:ph idx="4294967295" type="title"/>
          </p:nvPr>
        </p:nvSpPr>
        <p:spPr>
          <a:xfrm>
            <a:off x="4705875" y="3021533"/>
            <a:ext cx="7347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3B981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>
              <a:solidFill>
                <a:srgbClr val="13B9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5" name="Google Shape;465;p28"/>
          <p:cNvSpPr txBox="1"/>
          <p:nvPr/>
        </p:nvSpPr>
        <p:spPr>
          <a:xfrm>
            <a:off x="1951150" y="2115473"/>
            <a:ext cx="21978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Enfocar al estudiante en lo que realmente necesita.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6" name="Google Shape;466;p28"/>
          <p:cNvSpPr txBox="1"/>
          <p:nvPr/>
        </p:nvSpPr>
        <p:spPr>
          <a:xfrm>
            <a:off x="5369750" y="2263275"/>
            <a:ext cx="21978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Detectar errores y reforzar lo que no domina.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7" name="Google Shape;467;p28"/>
          <p:cNvSpPr txBox="1"/>
          <p:nvPr/>
        </p:nvSpPr>
        <p:spPr>
          <a:xfrm>
            <a:off x="1951150" y="3608475"/>
            <a:ext cx="21978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Practicar con ejercicios adaptados a su selección.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8" name="Google Shape;468;p28"/>
          <p:cNvSpPr txBox="1"/>
          <p:nvPr/>
        </p:nvSpPr>
        <p:spPr>
          <a:xfrm>
            <a:off x="5369750" y="3608475"/>
            <a:ext cx="21978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Mantener seguimiento para construir el hábito.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9"/>
          <p:cNvSpPr txBox="1"/>
          <p:nvPr>
            <p:ph type="title"/>
          </p:nvPr>
        </p:nvSpPr>
        <p:spPr>
          <a:xfrm>
            <a:off x="1563375" y="694275"/>
            <a:ext cx="630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ALCANCE DEL PROYECTO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4" name="Google Shape;474;p29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29"/>
          <p:cNvSpPr/>
          <p:nvPr/>
        </p:nvSpPr>
        <p:spPr>
          <a:xfrm>
            <a:off x="3864400" y="1459650"/>
            <a:ext cx="4493700" cy="3095400"/>
          </a:xfrm>
          <a:prstGeom prst="roundRect">
            <a:avLst>
              <a:gd fmla="val 11679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476" name="Google Shape;476;p29"/>
          <p:cNvSpPr txBox="1"/>
          <p:nvPr>
            <p:ph idx="3" type="subTitle"/>
          </p:nvPr>
        </p:nvSpPr>
        <p:spPr>
          <a:xfrm>
            <a:off x="3993775" y="1671900"/>
            <a:ext cx="4171500" cy="27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Desarrollo de una app móvil (Android).</a:t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Cobertura inicial de las materias Derecho Civil y Derecho Procesal.</a:t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Generación de preguntas basadas en los contenidos de cada materia.</a:t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Prácticas personalizadas: preguntas se seleccionan según el desempeño del estudiante o sus preferencias.</a:t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Corrección con feedback argumentado, indicando si la respuesta fue correcta o no y por qué.</a:t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Panel visual de progreso que muestra fortalezas, debilidades y evolución del estudiante en cada tema.</a:t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7" name="Google Shape;477;p29"/>
          <p:cNvSpPr txBox="1"/>
          <p:nvPr/>
        </p:nvSpPr>
        <p:spPr>
          <a:xfrm>
            <a:off x="743225" y="1671900"/>
            <a:ext cx="28401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La solución consiste en una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aplicación móvil que ayuda a los estudiantes de Derecho a </a:t>
            </a:r>
            <a:r>
              <a:rPr lang="en" sz="11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practicar y reforzar sus conocimientos</a:t>
            </a: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mediante </a:t>
            </a:r>
            <a:r>
              <a:rPr b="1" lang="en" sz="1100">
                <a:solidFill>
                  <a:srgbClr val="13B981"/>
                </a:solidFill>
                <a:latin typeface="Poppins"/>
                <a:ea typeface="Poppins"/>
                <a:cs typeface="Poppins"/>
                <a:sym typeface="Poppins"/>
              </a:rPr>
              <a:t>preguntas generadas con IA.</a:t>
            </a:r>
            <a:br>
              <a:rPr b="1" lang="en" sz="1100">
                <a:latin typeface="Poppins"/>
                <a:ea typeface="Poppins"/>
                <a:cs typeface="Poppins"/>
                <a:sym typeface="Poppins"/>
              </a:rPr>
            </a:b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La app evalúa al estudiante, detecta sus errores, explica por qué falló y le muestra su progreso en cada área.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0"/>
          <p:cNvSpPr txBox="1"/>
          <p:nvPr>
            <p:ph type="title"/>
          </p:nvPr>
        </p:nvSpPr>
        <p:spPr>
          <a:xfrm>
            <a:off x="1563375" y="694275"/>
            <a:ext cx="630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LIMITACIONES DEL PROYECTO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83" name="Google Shape;483;p30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0"/>
          <p:cNvSpPr/>
          <p:nvPr/>
        </p:nvSpPr>
        <p:spPr>
          <a:xfrm>
            <a:off x="1982650" y="1513713"/>
            <a:ext cx="5275200" cy="2813400"/>
          </a:xfrm>
          <a:prstGeom prst="roundRect">
            <a:avLst>
              <a:gd fmla="val 11679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485" name="Google Shape;485;p30"/>
          <p:cNvSpPr txBox="1"/>
          <p:nvPr>
            <p:ph idx="3" type="subTitle"/>
          </p:nvPr>
        </p:nvSpPr>
        <p:spPr>
          <a:xfrm>
            <a:off x="2134125" y="1876070"/>
            <a:ext cx="4888200" cy="22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Dependencia de conexión a internet: el uso de la app requiere conexión constante, lo que limita el funcionamiento offline.</a:t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corrección automática básica y la p</a:t>
            </a:r>
            <a:r>
              <a:rPr lang="en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ersonalización de aprendizaje</a:t>
            </a:r>
            <a:r>
              <a:rPr lang="en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no sustituye a un profesor o tutor.</a:t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Actualmente el sistema abarca sólo 2 </a:t>
            </a:r>
            <a:r>
              <a:rPr lang="en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áreas</a:t>
            </a:r>
            <a:r>
              <a:rPr lang="en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principales del examen de grado.</a:t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Dependencia de APIs externas: el funcionamiento depende de la disponibilidad y estabilidad de servicios como OpenAI, Azure Speech Service y Azure Database for PostgreSQL.</a:t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1"/>
          <p:cNvSpPr txBox="1"/>
          <p:nvPr>
            <p:ph type="title"/>
          </p:nvPr>
        </p:nvSpPr>
        <p:spPr>
          <a:xfrm>
            <a:off x="1563375" y="694275"/>
            <a:ext cx="630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METODOLOGIA </a:t>
            </a:r>
            <a:r>
              <a:rPr lang="en">
                <a:solidFill>
                  <a:srgbClr val="13B981"/>
                </a:solidFill>
                <a:latin typeface="Poppins"/>
                <a:ea typeface="Poppins"/>
                <a:cs typeface="Poppins"/>
                <a:sym typeface="Poppins"/>
              </a:rPr>
              <a:t>SCRUM</a:t>
            </a:r>
            <a:endParaRPr>
              <a:solidFill>
                <a:srgbClr val="13B9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91" name="Google Shape;491;p31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1"/>
          <p:cNvSpPr/>
          <p:nvPr/>
        </p:nvSpPr>
        <p:spPr>
          <a:xfrm>
            <a:off x="769950" y="1467700"/>
            <a:ext cx="3836700" cy="1479000"/>
          </a:xfrm>
          <a:prstGeom prst="roundRect">
            <a:avLst>
              <a:gd fmla="val 11679" name="adj"/>
            </a:avLst>
          </a:prstGeom>
          <a:solidFill>
            <a:srgbClr val="13B981"/>
          </a:solidFill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493" name="Google Shape;493;p31"/>
          <p:cNvSpPr/>
          <p:nvPr/>
        </p:nvSpPr>
        <p:spPr>
          <a:xfrm>
            <a:off x="769950" y="1467700"/>
            <a:ext cx="3836700" cy="14247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494" name="Google Shape;494;p31"/>
          <p:cNvSpPr txBox="1"/>
          <p:nvPr/>
        </p:nvSpPr>
        <p:spPr>
          <a:xfrm>
            <a:off x="720000" y="1570229"/>
            <a:ext cx="39366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3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Framework Ágil</a:t>
            </a:r>
            <a:endParaRPr sz="1600">
              <a:solidFill>
                <a:srgbClr val="13B98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Char char="●"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Metodología iterativa e incremental.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Char char="●"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6 sprints de 2 semanas cada uno.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Char char="●"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Entregas incrementales de valor al final de cada sprint.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5" name="Google Shape;495;p31"/>
          <p:cNvSpPr/>
          <p:nvPr/>
        </p:nvSpPr>
        <p:spPr>
          <a:xfrm>
            <a:off x="769950" y="3087772"/>
            <a:ext cx="1877100" cy="1376700"/>
          </a:xfrm>
          <a:prstGeom prst="roundRect">
            <a:avLst>
              <a:gd fmla="val 11679" name="adj"/>
            </a:avLst>
          </a:prstGeom>
          <a:solidFill>
            <a:srgbClr val="13B981"/>
          </a:solidFill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496" name="Google Shape;496;p31"/>
          <p:cNvSpPr/>
          <p:nvPr/>
        </p:nvSpPr>
        <p:spPr>
          <a:xfrm>
            <a:off x="769950" y="3087772"/>
            <a:ext cx="1877100" cy="13260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rPr>
              <a:t> </a:t>
            </a:r>
            <a:endParaRPr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497" name="Google Shape;497;p31"/>
          <p:cNvSpPr txBox="1"/>
          <p:nvPr/>
        </p:nvSpPr>
        <p:spPr>
          <a:xfrm>
            <a:off x="769950" y="3183222"/>
            <a:ext cx="187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3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Herramientas</a:t>
            </a:r>
            <a:endParaRPr sz="900">
              <a:solidFill>
                <a:srgbClr val="13B98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498" name="Google Shape;498;p31"/>
          <p:cNvGrpSpPr/>
          <p:nvPr/>
        </p:nvGrpSpPr>
        <p:grpSpPr>
          <a:xfrm>
            <a:off x="914725" y="3668645"/>
            <a:ext cx="419400" cy="576855"/>
            <a:chOff x="914725" y="3668645"/>
            <a:chExt cx="419400" cy="576855"/>
          </a:xfrm>
        </p:grpSpPr>
        <p:pic>
          <p:nvPicPr>
            <p:cNvPr descr="Github Logo PNG Vectors Free Download" id="499" name="Google Shape;499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61189" y="3668645"/>
              <a:ext cx="326422" cy="3264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0" name="Google Shape;500;p31"/>
            <p:cNvSpPr txBox="1"/>
            <p:nvPr/>
          </p:nvSpPr>
          <p:spPr>
            <a:xfrm>
              <a:off x="914725" y="4019000"/>
              <a:ext cx="419400" cy="22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30"/>
                <a:t>GitHub</a:t>
              </a:r>
              <a:endParaRPr sz="630"/>
            </a:p>
          </p:txBody>
        </p:sp>
      </p:grpSp>
      <p:grpSp>
        <p:nvGrpSpPr>
          <p:cNvPr id="501" name="Google Shape;501;p31"/>
          <p:cNvGrpSpPr/>
          <p:nvPr/>
        </p:nvGrpSpPr>
        <p:grpSpPr>
          <a:xfrm>
            <a:off x="1315980" y="3656350"/>
            <a:ext cx="454800" cy="589142"/>
            <a:chOff x="1439355" y="3713828"/>
            <a:chExt cx="454800" cy="589142"/>
          </a:xfrm>
        </p:grpSpPr>
        <p:pic>
          <p:nvPicPr>
            <p:cNvPr descr="Jira Logo - símbolo, significado logotipo, historia, PNG" id="502" name="Google Shape;502;p31"/>
            <p:cNvPicPr preferRelativeResize="0"/>
            <p:nvPr/>
          </p:nvPicPr>
          <p:blipFill rotWithShape="1">
            <a:blip r:embed="rId5">
              <a:alphaModFix/>
            </a:blip>
            <a:srcRect b="28991" l="0" r="60987" t="16898"/>
            <a:stretch/>
          </p:blipFill>
          <p:spPr>
            <a:xfrm>
              <a:off x="1502556" y="3713828"/>
              <a:ext cx="347004" cy="3264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3" name="Google Shape;503;p31"/>
            <p:cNvSpPr txBox="1"/>
            <p:nvPr/>
          </p:nvSpPr>
          <p:spPr>
            <a:xfrm>
              <a:off x="1439355" y="4076470"/>
              <a:ext cx="454800" cy="22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30"/>
                <a:t>Jira</a:t>
              </a:r>
              <a:endParaRPr sz="630"/>
            </a:p>
          </p:txBody>
        </p:sp>
      </p:grpSp>
      <p:grpSp>
        <p:nvGrpSpPr>
          <p:cNvPr id="504" name="Google Shape;504;p31"/>
          <p:cNvGrpSpPr/>
          <p:nvPr/>
        </p:nvGrpSpPr>
        <p:grpSpPr>
          <a:xfrm>
            <a:off x="1729336" y="3614320"/>
            <a:ext cx="454800" cy="631171"/>
            <a:chOff x="1946486" y="3671799"/>
            <a:chExt cx="454800" cy="631171"/>
          </a:xfrm>
        </p:grpSpPr>
        <p:pic>
          <p:nvPicPr>
            <p:cNvPr id="505" name="Google Shape;505;p31" title="Canva-Logo-Design-Platform-Ic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965705" y="3671799"/>
              <a:ext cx="416310" cy="4163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6" name="Google Shape;506;p31"/>
            <p:cNvSpPr txBox="1"/>
            <p:nvPr/>
          </p:nvSpPr>
          <p:spPr>
            <a:xfrm>
              <a:off x="1946486" y="4076470"/>
              <a:ext cx="454800" cy="22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30"/>
                <a:t>Canva</a:t>
              </a:r>
              <a:endParaRPr sz="630"/>
            </a:p>
          </p:txBody>
        </p:sp>
      </p:grpSp>
      <p:grpSp>
        <p:nvGrpSpPr>
          <p:cNvPr id="507" name="Google Shape;507;p31"/>
          <p:cNvGrpSpPr/>
          <p:nvPr/>
        </p:nvGrpSpPr>
        <p:grpSpPr>
          <a:xfrm>
            <a:off x="2152566" y="3685612"/>
            <a:ext cx="454800" cy="559879"/>
            <a:chOff x="2453616" y="3743091"/>
            <a:chExt cx="454800" cy="559879"/>
          </a:xfrm>
        </p:grpSpPr>
        <p:pic>
          <p:nvPicPr>
            <p:cNvPr descr="File:Figma-logo.svg - Wikimedia Commons" id="508" name="Google Shape;508;p3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567231" y="3743091"/>
              <a:ext cx="217344" cy="3264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9" name="Google Shape;509;p31"/>
            <p:cNvSpPr txBox="1"/>
            <p:nvPr/>
          </p:nvSpPr>
          <p:spPr>
            <a:xfrm>
              <a:off x="2453616" y="4076470"/>
              <a:ext cx="454800" cy="22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30"/>
                <a:t>Figma</a:t>
              </a:r>
              <a:endParaRPr sz="630"/>
            </a:p>
          </p:txBody>
        </p:sp>
      </p:grpSp>
      <p:sp>
        <p:nvSpPr>
          <p:cNvPr id="510" name="Google Shape;510;p31"/>
          <p:cNvSpPr/>
          <p:nvPr/>
        </p:nvSpPr>
        <p:spPr>
          <a:xfrm>
            <a:off x="2750825" y="3087772"/>
            <a:ext cx="1876200" cy="1376700"/>
          </a:xfrm>
          <a:prstGeom prst="roundRect">
            <a:avLst>
              <a:gd fmla="val 11679" name="adj"/>
            </a:avLst>
          </a:prstGeom>
          <a:solidFill>
            <a:srgbClr val="13B981"/>
          </a:solidFill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11" name="Google Shape;511;p31"/>
          <p:cNvSpPr/>
          <p:nvPr/>
        </p:nvSpPr>
        <p:spPr>
          <a:xfrm>
            <a:off x="2750825" y="3087772"/>
            <a:ext cx="1876200" cy="13260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12" name="Google Shape;512;p31"/>
          <p:cNvSpPr txBox="1"/>
          <p:nvPr/>
        </p:nvSpPr>
        <p:spPr>
          <a:xfrm>
            <a:off x="2750825" y="3183222"/>
            <a:ext cx="187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3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Ceremonias</a:t>
            </a:r>
            <a:endParaRPr sz="900">
              <a:solidFill>
                <a:srgbClr val="13B98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13" name="Google Shape;513;p31"/>
          <p:cNvSpPr txBox="1"/>
          <p:nvPr/>
        </p:nvSpPr>
        <p:spPr>
          <a:xfrm>
            <a:off x="2881625" y="3685622"/>
            <a:ext cx="161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Sprint Planning, Daily, Review y Retrospective.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4" name="Google Shape;514;p31"/>
          <p:cNvSpPr/>
          <p:nvPr/>
        </p:nvSpPr>
        <p:spPr>
          <a:xfrm>
            <a:off x="4790250" y="1356675"/>
            <a:ext cx="3836700" cy="3366300"/>
          </a:xfrm>
          <a:prstGeom prst="roundRect">
            <a:avLst>
              <a:gd fmla="val 11679" name="adj"/>
            </a:avLst>
          </a:prstGeom>
          <a:solidFill>
            <a:srgbClr val="13B981"/>
          </a:solidFill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15" name="Google Shape;515;p31"/>
          <p:cNvSpPr/>
          <p:nvPr/>
        </p:nvSpPr>
        <p:spPr>
          <a:xfrm>
            <a:off x="4790250" y="1356688"/>
            <a:ext cx="3836700" cy="33072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16" name="Google Shape;516;p31"/>
          <p:cNvSpPr txBox="1"/>
          <p:nvPr/>
        </p:nvSpPr>
        <p:spPr>
          <a:xfrm>
            <a:off x="4973825" y="1467700"/>
            <a:ext cx="33678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3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Distribución por Sprints</a:t>
            </a:r>
            <a:br>
              <a:rPr lang="en" sz="1600">
                <a:solidFill>
                  <a:srgbClr val="13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endParaRPr sz="1200">
              <a:solidFill>
                <a:srgbClr val="13B981"/>
              </a:solidFill>
              <a:latin typeface="Anybody"/>
              <a:ea typeface="Anybody"/>
              <a:cs typeface="Anybody"/>
              <a:sym typeface="Anybody"/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Poppins"/>
              <a:buChar char="●"/>
            </a:pPr>
            <a:r>
              <a:rPr b="1" lang="en" sz="850">
                <a:latin typeface="Poppins"/>
                <a:ea typeface="Poppins"/>
                <a:cs typeface="Poppins"/>
                <a:sym typeface="Poppins"/>
              </a:rPr>
              <a:t>Sprint 1:</a:t>
            </a:r>
            <a:r>
              <a:rPr lang="en" sz="85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750">
                <a:latin typeface="Poppins"/>
                <a:ea typeface="Poppins"/>
                <a:cs typeface="Poppins"/>
                <a:sym typeface="Poppins"/>
              </a:rPr>
              <a:t>Funcionalidades base → visualizar preguntas, responder por texto, ver materias.</a:t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Poppins"/>
              <a:buChar char="●"/>
            </a:pPr>
            <a:r>
              <a:rPr b="1" lang="en" sz="850">
                <a:latin typeface="Poppins"/>
                <a:ea typeface="Poppins"/>
                <a:cs typeface="Poppins"/>
                <a:sym typeface="Poppins"/>
              </a:rPr>
              <a:t>Sprint 2:</a:t>
            </a:r>
            <a:r>
              <a:rPr lang="en" sz="85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750">
                <a:latin typeface="Poppins"/>
                <a:ea typeface="Poppins"/>
                <a:cs typeface="Poppins"/>
                <a:sym typeface="Poppins"/>
              </a:rPr>
              <a:t>Feedback y progreso → retroalimentación, ver si es correcta, tablero de progreso, explicación de corrección.</a:t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Poppins"/>
              <a:buChar char="●"/>
            </a:pPr>
            <a:r>
              <a:rPr b="1" lang="en" sz="850">
                <a:latin typeface="Poppins"/>
                <a:ea typeface="Poppins"/>
                <a:cs typeface="Poppins"/>
                <a:sym typeface="Poppins"/>
              </a:rPr>
              <a:t>Sprint 3: </a:t>
            </a:r>
            <a:r>
              <a:rPr lang="en" sz="750">
                <a:latin typeface="Poppins"/>
                <a:ea typeface="Poppins"/>
                <a:cs typeface="Poppins"/>
                <a:sym typeface="Poppins"/>
              </a:rPr>
              <a:t>Funcionalidades avanzadas → responder por voz, detectar debilidades, recomendaciones, escuchar corrección.</a:t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Poppins"/>
              <a:buChar char="●"/>
            </a:pPr>
            <a:r>
              <a:rPr b="1" lang="en" sz="850">
                <a:latin typeface="Poppins"/>
                <a:ea typeface="Poppins"/>
                <a:cs typeface="Poppins"/>
                <a:sym typeface="Poppins"/>
              </a:rPr>
              <a:t>Sprint 4:</a:t>
            </a:r>
            <a:r>
              <a:rPr lang="en" sz="85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750">
                <a:latin typeface="Poppins"/>
                <a:ea typeface="Poppins"/>
                <a:cs typeface="Poppins"/>
                <a:sym typeface="Poppins"/>
              </a:rPr>
              <a:t>Personalización y cierre → recordatorios, notificaciones, login, puntaje final, selección de materias, perfil.</a:t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Poppins"/>
              <a:buChar char="●"/>
            </a:pPr>
            <a:r>
              <a:rPr b="1" lang="en" sz="850">
                <a:latin typeface="Poppins"/>
                <a:ea typeface="Poppins"/>
                <a:cs typeface="Poppins"/>
                <a:sym typeface="Poppins"/>
              </a:rPr>
              <a:t>Sprint 5:</a:t>
            </a:r>
            <a:r>
              <a:rPr lang="en" sz="85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750">
                <a:latin typeface="Poppins"/>
                <a:ea typeface="Poppins"/>
                <a:cs typeface="Poppins"/>
                <a:sym typeface="Poppins"/>
              </a:rPr>
              <a:t>Personalización y cierre →login, puntaje final, selección de materias.</a:t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Poppins"/>
              <a:buChar char="●"/>
            </a:pPr>
            <a:r>
              <a:rPr b="1" lang="en" sz="850">
                <a:latin typeface="Poppins"/>
                <a:ea typeface="Poppins"/>
                <a:cs typeface="Poppins"/>
                <a:sym typeface="Poppins"/>
              </a:rPr>
              <a:t>Sprint 6:</a:t>
            </a:r>
            <a:r>
              <a:rPr lang="en" sz="85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750">
                <a:latin typeface="Poppins"/>
                <a:ea typeface="Poppins"/>
                <a:cs typeface="Poppins"/>
                <a:sym typeface="Poppins"/>
              </a:rPr>
              <a:t>Revisiones →</a:t>
            </a:r>
            <a:r>
              <a:rPr b="1" lang="en" sz="750"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750">
                <a:latin typeface="Poppins"/>
                <a:ea typeface="Poppins"/>
                <a:cs typeface="Poppins"/>
                <a:sym typeface="Poppins"/>
              </a:rPr>
              <a:t>Recibir notificaciones para estudiar, Configurar mi perfil.</a:t>
            </a:r>
            <a:endParaRPr sz="75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2"/>
          <p:cNvSpPr txBox="1"/>
          <p:nvPr>
            <p:ph idx="4294967295" type="title"/>
          </p:nvPr>
        </p:nvSpPr>
        <p:spPr>
          <a:xfrm>
            <a:off x="1563375" y="694275"/>
            <a:ext cx="630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RELEASE</a:t>
            </a:r>
            <a:endParaRPr>
              <a:solidFill>
                <a:srgbClr val="13B9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22" name="Google Shape;522;p32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2"/>
          <p:cNvSpPr/>
          <p:nvPr/>
        </p:nvSpPr>
        <p:spPr>
          <a:xfrm>
            <a:off x="720000" y="1454450"/>
            <a:ext cx="1429800" cy="572700"/>
          </a:xfrm>
          <a:prstGeom prst="roundRect">
            <a:avLst>
              <a:gd fmla="val 11679" name="adj"/>
            </a:avLst>
          </a:prstGeom>
          <a:solidFill>
            <a:srgbClr val="3B82F6"/>
          </a:solidFill>
          <a:ln>
            <a:noFill/>
          </a:ln>
          <a:effectLst>
            <a:outerShdw blurRad="43548" rotWithShape="0" algn="bl" dir="5400000" dist="14516">
              <a:srgbClr val="000000">
                <a:alpha val="2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24" name="Google Shape;524;p32"/>
          <p:cNvSpPr/>
          <p:nvPr/>
        </p:nvSpPr>
        <p:spPr>
          <a:xfrm>
            <a:off x="720000" y="1454450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spcBef>
                <a:spcPts val="1900"/>
              </a:spcBef>
              <a:spcAft>
                <a:spcPts val="190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Preguntas y Respuestas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5" name="Google Shape;525;p32"/>
          <p:cNvSpPr/>
          <p:nvPr/>
        </p:nvSpPr>
        <p:spPr>
          <a:xfrm>
            <a:off x="2256425" y="1454450"/>
            <a:ext cx="1429800" cy="572700"/>
          </a:xfrm>
          <a:prstGeom prst="roundRect">
            <a:avLst>
              <a:gd fmla="val 11679" name="adj"/>
            </a:avLst>
          </a:prstGeom>
          <a:solidFill>
            <a:srgbClr val="3B82F6"/>
          </a:solidFill>
          <a:ln>
            <a:noFill/>
          </a:ln>
          <a:effectLst>
            <a:outerShdw blurRad="43548" rotWithShape="0" algn="bl" dir="5400000" dist="14516">
              <a:srgbClr val="000000">
                <a:alpha val="2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26" name="Google Shape;526;p32"/>
          <p:cNvSpPr/>
          <p:nvPr/>
        </p:nvSpPr>
        <p:spPr>
          <a:xfrm>
            <a:off x="2256425" y="1454450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Corrección y Feedback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7" name="Google Shape;527;p32"/>
          <p:cNvSpPr/>
          <p:nvPr/>
        </p:nvSpPr>
        <p:spPr>
          <a:xfrm>
            <a:off x="3792876" y="1454450"/>
            <a:ext cx="1429800" cy="572700"/>
          </a:xfrm>
          <a:prstGeom prst="roundRect">
            <a:avLst>
              <a:gd fmla="val 11679" name="adj"/>
            </a:avLst>
          </a:prstGeom>
          <a:solidFill>
            <a:srgbClr val="3B82F6"/>
          </a:solidFill>
          <a:ln>
            <a:noFill/>
          </a:ln>
          <a:effectLst>
            <a:outerShdw blurRad="43548" rotWithShape="0" algn="bl" dir="5400000" dist="14516">
              <a:srgbClr val="000000">
                <a:alpha val="2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28" name="Google Shape;528;p32"/>
          <p:cNvSpPr/>
          <p:nvPr/>
        </p:nvSpPr>
        <p:spPr>
          <a:xfrm>
            <a:off x="3792876" y="1454450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900"/>
              </a:spcBef>
              <a:spcAft>
                <a:spcPts val="190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Ver progreso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9" name="Google Shape;529;p32"/>
          <p:cNvSpPr/>
          <p:nvPr/>
        </p:nvSpPr>
        <p:spPr>
          <a:xfrm>
            <a:off x="5343440" y="1454450"/>
            <a:ext cx="1429800" cy="572700"/>
          </a:xfrm>
          <a:prstGeom prst="roundRect">
            <a:avLst>
              <a:gd fmla="val 11679" name="adj"/>
            </a:avLst>
          </a:prstGeom>
          <a:solidFill>
            <a:srgbClr val="3B82F6"/>
          </a:solidFill>
          <a:ln>
            <a:noFill/>
          </a:ln>
          <a:effectLst>
            <a:outerShdw blurRad="43548" rotWithShape="0" algn="bl" dir="5400000" dist="14516">
              <a:srgbClr val="000000">
                <a:alpha val="2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30" name="Google Shape;530;p32"/>
          <p:cNvSpPr/>
          <p:nvPr/>
        </p:nvSpPr>
        <p:spPr>
          <a:xfrm>
            <a:off x="5343440" y="1454450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Recordatorios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1" name="Google Shape;531;p32"/>
          <p:cNvSpPr/>
          <p:nvPr/>
        </p:nvSpPr>
        <p:spPr>
          <a:xfrm>
            <a:off x="6879850" y="1454450"/>
            <a:ext cx="1429800" cy="572700"/>
          </a:xfrm>
          <a:prstGeom prst="roundRect">
            <a:avLst>
              <a:gd fmla="val 11679" name="adj"/>
            </a:avLst>
          </a:prstGeom>
          <a:solidFill>
            <a:srgbClr val="3B82F6"/>
          </a:solidFill>
          <a:ln>
            <a:noFill/>
          </a:ln>
          <a:effectLst>
            <a:outerShdw blurRad="43548" rotWithShape="0" algn="bl" dir="5400000" dist="14516">
              <a:srgbClr val="000000">
                <a:alpha val="2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32" name="Google Shape;532;p32"/>
          <p:cNvSpPr/>
          <p:nvPr/>
        </p:nvSpPr>
        <p:spPr>
          <a:xfrm>
            <a:off x="6879850" y="1454450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5400000" dist="14516">
              <a:srgbClr val="000000">
                <a:alpha val="2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Perfil</a:t>
            </a:r>
            <a:endParaRPr b="1" sz="106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33" name="Google Shape;533;p32"/>
          <p:cNvSpPr/>
          <p:nvPr/>
        </p:nvSpPr>
        <p:spPr>
          <a:xfrm>
            <a:off x="720025" y="2145929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8880000" dist="14516">
              <a:srgbClr val="000000">
                <a:alpha val="3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Visualizar preguntas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4" name="Google Shape;534;p32"/>
          <p:cNvSpPr/>
          <p:nvPr/>
        </p:nvSpPr>
        <p:spPr>
          <a:xfrm>
            <a:off x="2256450" y="2145933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8880000" dist="14516">
              <a:srgbClr val="000000">
                <a:alpha val="3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Ver si mi respuesta está correcta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5" name="Google Shape;535;p32"/>
          <p:cNvSpPr/>
          <p:nvPr/>
        </p:nvSpPr>
        <p:spPr>
          <a:xfrm>
            <a:off x="3792901" y="2145929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8880000" dist="14516">
              <a:srgbClr val="000000">
                <a:alpha val="3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Ver mis debilidades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6" name="Google Shape;536;p32"/>
          <p:cNvSpPr/>
          <p:nvPr/>
        </p:nvSpPr>
        <p:spPr>
          <a:xfrm>
            <a:off x="5343465" y="2145929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8880000" dist="14516">
              <a:srgbClr val="000000">
                <a:alpha val="3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Guardar preferencias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7" name="Google Shape;537;p32"/>
          <p:cNvSpPr/>
          <p:nvPr/>
        </p:nvSpPr>
        <p:spPr>
          <a:xfrm>
            <a:off x="720025" y="2768129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8880000" dist="14516">
              <a:srgbClr val="000000">
                <a:alpha val="3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Responder preguntas por texto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8" name="Google Shape;538;p32"/>
          <p:cNvSpPr/>
          <p:nvPr/>
        </p:nvSpPr>
        <p:spPr>
          <a:xfrm>
            <a:off x="2256450" y="2768129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8880000" dist="14516">
              <a:srgbClr val="000000">
                <a:alpha val="3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Leer explicación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9" name="Google Shape;539;p32"/>
          <p:cNvSpPr/>
          <p:nvPr/>
        </p:nvSpPr>
        <p:spPr>
          <a:xfrm>
            <a:off x="3792901" y="2768129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8880000" dist="14516">
              <a:srgbClr val="000000">
                <a:alpha val="3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Dashboard de progreso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0" name="Google Shape;540;p32"/>
          <p:cNvSpPr/>
          <p:nvPr/>
        </p:nvSpPr>
        <p:spPr>
          <a:xfrm>
            <a:off x="720025" y="3390329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8880000" dist="14516">
              <a:srgbClr val="000000">
                <a:alpha val="3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Escuchar preguntas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1" name="Google Shape;541;p32"/>
          <p:cNvSpPr/>
          <p:nvPr/>
        </p:nvSpPr>
        <p:spPr>
          <a:xfrm>
            <a:off x="2256450" y="3390329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8880000" dist="14516">
              <a:srgbClr val="000000">
                <a:alpha val="3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Ver mi puntaje final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2" name="Google Shape;542;p32"/>
          <p:cNvSpPr/>
          <p:nvPr/>
        </p:nvSpPr>
        <p:spPr>
          <a:xfrm>
            <a:off x="3792901" y="3390329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8880000" dist="14516">
              <a:srgbClr val="000000">
                <a:alpha val="3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16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00">
                <a:latin typeface="Poppins"/>
                <a:ea typeface="Poppins"/>
                <a:cs typeface="Poppins"/>
                <a:sym typeface="Poppins"/>
              </a:rPr>
              <a:t>Ver el historial de sesiones y tests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3" name="Google Shape;543;p32"/>
          <p:cNvSpPr/>
          <p:nvPr/>
        </p:nvSpPr>
        <p:spPr>
          <a:xfrm>
            <a:off x="720025" y="4051079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8880000" dist="14516">
              <a:srgbClr val="000000">
                <a:alpha val="3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Responder preguntas por voz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4" name="Google Shape;544;p32"/>
          <p:cNvSpPr txBox="1"/>
          <p:nvPr/>
        </p:nvSpPr>
        <p:spPr>
          <a:xfrm>
            <a:off x="6344650" y="1146650"/>
            <a:ext cx="196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b="1" lang="en" sz="80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Release 1: Base Practica (octubre)</a:t>
            </a:r>
            <a:endParaRPr b="1" sz="800">
              <a:solidFill>
                <a:srgbClr val="3B82F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3"/>
          <p:cNvSpPr/>
          <p:nvPr/>
        </p:nvSpPr>
        <p:spPr>
          <a:xfrm>
            <a:off x="720000" y="1454450"/>
            <a:ext cx="1429800" cy="572700"/>
          </a:xfrm>
          <a:prstGeom prst="roundRect">
            <a:avLst>
              <a:gd fmla="val 11679" name="adj"/>
            </a:avLst>
          </a:prstGeom>
          <a:solidFill>
            <a:srgbClr val="3B82F6"/>
          </a:solidFill>
          <a:ln>
            <a:noFill/>
          </a:ln>
          <a:effectLst>
            <a:outerShdw blurRad="43548" rotWithShape="0" algn="bl" dir="5400000" dist="14516">
              <a:srgbClr val="000000">
                <a:alpha val="2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50" name="Google Shape;550;p33"/>
          <p:cNvSpPr/>
          <p:nvPr/>
        </p:nvSpPr>
        <p:spPr>
          <a:xfrm>
            <a:off x="2256425" y="1454450"/>
            <a:ext cx="1429800" cy="572700"/>
          </a:xfrm>
          <a:prstGeom prst="roundRect">
            <a:avLst>
              <a:gd fmla="val 11679" name="adj"/>
            </a:avLst>
          </a:prstGeom>
          <a:solidFill>
            <a:srgbClr val="3B82F6"/>
          </a:solidFill>
          <a:ln>
            <a:noFill/>
          </a:ln>
          <a:effectLst>
            <a:outerShdw blurRad="43548" rotWithShape="0" algn="bl" dir="5400000" dist="14516">
              <a:srgbClr val="000000">
                <a:alpha val="2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51" name="Google Shape;551;p33"/>
          <p:cNvSpPr/>
          <p:nvPr/>
        </p:nvSpPr>
        <p:spPr>
          <a:xfrm>
            <a:off x="3792876" y="1454450"/>
            <a:ext cx="1429800" cy="572700"/>
          </a:xfrm>
          <a:prstGeom prst="roundRect">
            <a:avLst>
              <a:gd fmla="val 11679" name="adj"/>
            </a:avLst>
          </a:prstGeom>
          <a:solidFill>
            <a:srgbClr val="3B82F6"/>
          </a:solidFill>
          <a:ln>
            <a:noFill/>
          </a:ln>
          <a:effectLst>
            <a:outerShdw blurRad="43548" rotWithShape="0" algn="bl" dir="5400000" dist="14516">
              <a:srgbClr val="000000">
                <a:alpha val="2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52" name="Google Shape;552;p33"/>
          <p:cNvSpPr/>
          <p:nvPr/>
        </p:nvSpPr>
        <p:spPr>
          <a:xfrm>
            <a:off x="5343440" y="1454450"/>
            <a:ext cx="1429800" cy="572700"/>
          </a:xfrm>
          <a:prstGeom prst="roundRect">
            <a:avLst>
              <a:gd fmla="val 11679" name="adj"/>
            </a:avLst>
          </a:prstGeom>
          <a:solidFill>
            <a:srgbClr val="3B82F6"/>
          </a:solidFill>
          <a:ln>
            <a:noFill/>
          </a:ln>
          <a:effectLst>
            <a:outerShdw blurRad="43548" rotWithShape="0" algn="bl" dir="5400000" dist="14516">
              <a:srgbClr val="000000">
                <a:alpha val="2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53" name="Google Shape;553;p33"/>
          <p:cNvSpPr/>
          <p:nvPr/>
        </p:nvSpPr>
        <p:spPr>
          <a:xfrm>
            <a:off x="6879850" y="1454450"/>
            <a:ext cx="1429800" cy="572700"/>
          </a:xfrm>
          <a:prstGeom prst="roundRect">
            <a:avLst>
              <a:gd fmla="val 11679" name="adj"/>
            </a:avLst>
          </a:prstGeom>
          <a:solidFill>
            <a:srgbClr val="3B82F6"/>
          </a:solidFill>
          <a:ln>
            <a:noFill/>
          </a:ln>
          <a:effectLst>
            <a:outerShdw blurRad="43548" rotWithShape="0" algn="bl" dir="5400000" dist="14516">
              <a:srgbClr val="000000">
                <a:alpha val="2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54" name="Google Shape;554;p33"/>
          <p:cNvSpPr txBox="1"/>
          <p:nvPr>
            <p:ph idx="4294967295" type="title"/>
          </p:nvPr>
        </p:nvSpPr>
        <p:spPr>
          <a:xfrm>
            <a:off x="1563375" y="694275"/>
            <a:ext cx="630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RELEASE</a:t>
            </a:r>
            <a:endParaRPr>
              <a:solidFill>
                <a:srgbClr val="13B9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55" name="Google Shape;555;p33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33"/>
          <p:cNvSpPr/>
          <p:nvPr/>
        </p:nvSpPr>
        <p:spPr>
          <a:xfrm>
            <a:off x="712950" y="2149663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5940000" dist="14516">
              <a:srgbClr val="000000">
                <a:alpha val="32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Escuchar la corrección de mi respuesta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7" name="Google Shape;557;p33"/>
          <p:cNvSpPr/>
          <p:nvPr/>
        </p:nvSpPr>
        <p:spPr>
          <a:xfrm>
            <a:off x="2249375" y="2149663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5940000" dist="14516">
              <a:srgbClr val="000000">
                <a:alpha val="32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Recibir recomendaciones de estudio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8" name="Google Shape;558;p33"/>
          <p:cNvSpPr/>
          <p:nvPr/>
        </p:nvSpPr>
        <p:spPr>
          <a:xfrm>
            <a:off x="5336390" y="2149663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5940000" dist="14516">
              <a:srgbClr val="000000">
                <a:alpha val="32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Recibir notificación push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9" name="Google Shape;559;p33"/>
          <p:cNvSpPr/>
          <p:nvPr/>
        </p:nvSpPr>
        <p:spPr>
          <a:xfrm>
            <a:off x="6872800" y="2149663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5940000" dist="14516">
              <a:srgbClr val="000000">
                <a:alpha val="32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Crear usuario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0" name="Google Shape;560;p33"/>
          <p:cNvSpPr/>
          <p:nvPr/>
        </p:nvSpPr>
        <p:spPr>
          <a:xfrm>
            <a:off x="6872800" y="2771863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5940000" dist="14516">
              <a:srgbClr val="000000">
                <a:alpha val="32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Ingresar con usuario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1" name="Google Shape;561;p33"/>
          <p:cNvSpPr/>
          <p:nvPr/>
        </p:nvSpPr>
        <p:spPr>
          <a:xfrm>
            <a:off x="6872800" y="3394063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5940000" dist="14516">
              <a:srgbClr val="000000">
                <a:alpha val="32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Configurar perfil de usuario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2" name="Google Shape;562;p33"/>
          <p:cNvSpPr/>
          <p:nvPr/>
        </p:nvSpPr>
        <p:spPr>
          <a:xfrm>
            <a:off x="720000" y="1454450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spcBef>
                <a:spcPts val="1900"/>
              </a:spcBef>
              <a:spcAft>
                <a:spcPts val="190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Preguntas y Respuestas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3" name="Google Shape;563;p33"/>
          <p:cNvSpPr/>
          <p:nvPr/>
        </p:nvSpPr>
        <p:spPr>
          <a:xfrm>
            <a:off x="2256425" y="1454450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Corrección y Feedback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4" name="Google Shape;564;p33"/>
          <p:cNvSpPr/>
          <p:nvPr/>
        </p:nvSpPr>
        <p:spPr>
          <a:xfrm>
            <a:off x="3792876" y="1454450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900"/>
              </a:spcBef>
              <a:spcAft>
                <a:spcPts val="190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Ver progreso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5" name="Google Shape;565;p33"/>
          <p:cNvSpPr/>
          <p:nvPr/>
        </p:nvSpPr>
        <p:spPr>
          <a:xfrm>
            <a:off x="5343440" y="1454450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Recordatorios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6" name="Google Shape;566;p33"/>
          <p:cNvSpPr/>
          <p:nvPr/>
        </p:nvSpPr>
        <p:spPr>
          <a:xfrm>
            <a:off x="6879850" y="1454450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5400000" dist="14516">
              <a:srgbClr val="000000">
                <a:alpha val="23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Perfil</a:t>
            </a:r>
            <a:endParaRPr b="1" sz="106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67" name="Google Shape;567;p33"/>
          <p:cNvSpPr txBox="1"/>
          <p:nvPr/>
        </p:nvSpPr>
        <p:spPr>
          <a:xfrm>
            <a:off x="6027150" y="1137618"/>
            <a:ext cx="22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b="1" lang="en" sz="80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Release 2: Personalización (Noviembre)</a:t>
            </a:r>
            <a:endParaRPr b="1" sz="800">
              <a:solidFill>
                <a:srgbClr val="3B82F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8" name="Google Shape;568;p33"/>
          <p:cNvSpPr/>
          <p:nvPr/>
        </p:nvSpPr>
        <p:spPr>
          <a:xfrm>
            <a:off x="3792889" y="2149663"/>
            <a:ext cx="1429800" cy="5331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  <a:effectLst>
            <a:outerShdw blurRad="43548" rotWithShape="0" algn="bl" dir="5940000" dist="14516">
              <a:srgbClr val="000000">
                <a:alpha val="32000"/>
              </a:srgbClr>
            </a:outerShdw>
          </a:effectLst>
        </p:spPr>
        <p:txBody>
          <a:bodyPr anchorCtr="0" anchor="ctr" bIns="69650" lIns="69650" spcFirstLastPara="1" rIns="69650" wrap="square" tIns="69650">
            <a:noAutofit/>
          </a:bodyPr>
          <a:lstStyle/>
          <a:p>
            <a:pPr indent="0" lvl="0" marL="0" rtl="0" algn="ctr">
              <a:lnSpc>
                <a:spcPct val="93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50">
                <a:latin typeface="Poppins"/>
                <a:ea typeface="Poppins"/>
                <a:cs typeface="Poppins"/>
                <a:sym typeface="Poppins"/>
              </a:rPr>
              <a:t>Visualización de progreso semanal y mensual</a:t>
            </a:r>
            <a:endParaRPr sz="65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4"/>
          <p:cNvSpPr txBox="1"/>
          <p:nvPr>
            <p:ph idx="4294967295" type="title"/>
          </p:nvPr>
        </p:nvSpPr>
        <p:spPr>
          <a:xfrm rot="-5400000">
            <a:off x="-777750" y="2624200"/>
            <a:ext cx="351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ARQUITECTURA</a:t>
            </a:r>
            <a:endParaRPr>
              <a:solidFill>
                <a:srgbClr val="13B9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4" name="Google Shape;574;p34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34" title="Copy of Grado Cerrado (5).png"/>
          <p:cNvPicPr preferRelativeResize="0"/>
          <p:nvPr/>
        </p:nvPicPr>
        <p:blipFill rotWithShape="1">
          <a:blip r:embed="rId4">
            <a:alphaModFix/>
          </a:blip>
          <a:srcRect b="2145" l="0" r="0" t="9903"/>
          <a:stretch/>
        </p:blipFill>
        <p:spPr>
          <a:xfrm>
            <a:off x="2066325" y="384003"/>
            <a:ext cx="5882174" cy="4409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5"/>
          <p:cNvSpPr txBox="1"/>
          <p:nvPr>
            <p:ph idx="4294967295" type="title"/>
          </p:nvPr>
        </p:nvSpPr>
        <p:spPr>
          <a:xfrm rot="-5400000">
            <a:off x="-279750" y="2566853"/>
            <a:ext cx="257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MODELO DE DATOS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81" name="Google Shape;581;p35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35" title="Mesa de trabajo 1@4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0760" y="638713"/>
            <a:ext cx="7310341" cy="4112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6"/>
          <p:cNvSpPr/>
          <p:nvPr/>
        </p:nvSpPr>
        <p:spPr>
          <a:xfrm>
            <a:off x="1705450" y="2994241"/>
            <a:ext cx="1701000" cy="1545900"/>
          </a:xfrm>
          <a:prstGeom prst="roundRect">
            <a:avLst>
              <a:gd fmla="val 11679" name="adj"/>
            </a:avLst>
          </a:prstGeom>
          <a:solidFill>
            <a:srgbClr val="E76A28"/>
          </a:solidFill>
          <a:ln>
            <a:noFill/>
          </a:ln>
          <a:effectLst>
            <a:outerShdw blurRad="51780" rotWithShape="0" algn="bl" dir="5400000" dist="17260">
              <a:srgbClr val="000000">
                <a:alpha val="23000"/>
              </a:srgbClr>
            </a:outerShdw>
          </a:effectLst>
        </p:spPr>
        <p:txBody>
          <a:bodyPr anchorCtr="0" anchor="ctr" bIns="82825" lIns="82825" spcFirstLastPara="1" rIns="82825" wrap="square" tIns="82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8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88" name="Google Shape;588;p36"/>
          <p:cNvSpPr/>
          <p:nvPr/>
        </p:nvSpPr>
        <p:spPr>
          <a:xfrm>
            <a:off x="1705450" y="2994250"/>
            <a:ext cx="1701000" cy="14970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82825" lIns="82825" spcFirstLastPara="1" rIns="82825" wrap="square" tIns="82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8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rPr>
              <a:t> </a:t>
            </a:r>
            <a:endParaRPr sz="1268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89" name="Google Shape;589;p36"/>
          <p:cNvSpPr txBox="1"/>
          <p:nvPr>
            <p:ph idx="4294967295" type="title"/>
          </p:nvPr>
        </p:nvSpPr>
        <p:spPr>
          <a:xfrm>
            <a:off x="1563375" y="694275"/>
            <a:ext cx="554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TECNOLOGÍAS UTILIZADAS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90" name="Google Shape;590;p36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36"/>
          <p:cNvSpPr/>
          <p:nvPr/>
        </p:nvSpPr>
        <p:spPr>
          <a:xfrm>
            <a:off x="3512050" y="1383250"/>
            <a:ext cx="1460400" cy="1791900"/>
          </a:xfrm>
          <a:prstGeom prst="roundRect">
            <a:avLst>
              <a:gd fmla="val 11679" name="adj"/>
            </a:avLst>
          </a:prstGeom>
          <a:solidFill>
            <a:srgbClr val="E76A28"/>
          </a:solidFill>
          <a:ln>
            <a:noFill/>
          </a:ln>
          <a:effectLst>
            <a:outerShdw blurRad="51780" rotWithShape="0" algn="bl" dir="5400000" dist="17260">
              <a:srgbClr val="000000">
                <a:alpha val="23000"/>
              </a:srgbClr>
            </a:outerShdw>
          </a:effectLst>
        </p:spPr>
        <p:txBody>
          <a:bodyPr anchorCtr="0" anchor="ctr" bIns="82825" lIns="82825" spcFirstLastPara="1" rIns="82825" wrap="square" tIns="82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8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92" name="Google Shape;592;p36"/>
          <p:cNvSpPr/>
          <p:nvPr/>
        </p:nvSpPr>
        <p:spPr>
          <a:xfrm>
            <a:off x="3512050" y="1383250"/>
            <a:ext cx="1460400" cy="17415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82825" lIns="82825" spcFirstLastPara="1" rIns="82825" wrap="square" tIns="82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8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rPr>
              <a:t> </a:t>
            </a:r>
            <a:endParaRPr sz="1268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593" name="Google Shape;593;p36"/>
          <p:cNvSpPr txBox="1"/>
          <p:nvPr/>
        </p:nvSpPr>
        <p:spPr>
          <a:xfrm>
            <a:off x="3512050" y="1468178"/>
            <a:ext cx="14604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2825" lIns="82825" spcFirstLastPara="1" rIns="82825" wrap="square" tIns="82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9">
                <a:solidFill>
                  <a:srgbClr val="F973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Frontend</a:t>
            </a:r>
            <a:endParaRPr sz="815">
              <a:solidFill>
                <a:srgbClr val="F9731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94" name="Google Shape;594;p36"/>
          <p:cNvSpPr txBox="1"/>
          <p:nvPr/>
        </p:nvSpPr>
        <p:spPr>
          <a:xfrm>
            <a:off x="3748834" y="2157824"/>
            <a:ext cx="411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1675" lIns="41675" spcFirstLastPara="1" rIns="41675" wrap="square" tIns="41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7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Angular 20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Framework principal 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5" name="Google Shape;595;p36"/>
          <p:cNvSpPr txBox="1"/>
          <p:nvPr/>
        </p:nvSpPr>
        <p:spPr>
          <a:xfrm>
            <a:off x="4391920" y="2157824"/>
            <a:ext cx="4119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675" lIns="41675" spcFirstLastPara="1" rIns="41675" wrap="square" tIns="41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7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TypeScript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Lenguaje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6" name="Google Shape;596;p36"/>
          <p:cNvSpPr txBox="1"/>
          <p:nvPr/>
        </p:nvSpPr>
        <p:spPr>
          <a:xfrm>
            <a:off x="3663180" y="2776553"/>
            <a:ext cx="5334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675" lIns="41675" spcFirstLastPara="1" rIns="41675" wrap="square" tIns="41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7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Ionic/Capacitor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Desarrollo móvil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7" name="Google Shape;597;p36"/>
          <p:cNvSpPr txBox="1"/>
          <p:nvPr/>
        </p:nvSpPr>
        <p:spPr>
          <a:xfrm>
            <a:off x="4314579" y="2779557"/>
            <a:ext cx="506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1675" lIns="41675" spcFirstLastPara="1" rIns="41675" wrap="square" tIns="41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7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RxJS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Programación</a:t>
            </a:r>
            <a:endParaRPr sz="434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reactiva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98" name="Google Shape;598;p36"/>
          <p:cNvPicPr preferRelativeResize="0"/>
          <p:nvPr/>
        </p:nvPicPr>
        <p:blipFill rotWithShape="1">
          <a:blip r:embed="rId4">
            <a:alphaModFix/>
          </a:blip>
          <a:srcRect b="13309" l="0" r="0" t="9357"/>
          <a:stretch/>
        </p:blipFill>
        <p:spPr>
          <a:xfrm>
            <a:off x="3752626" y="1860314"/>
            <a:ext cx="408250" cy="315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52354" y="1879183"/>
            <a:ext cx="276018" cy="276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49042" y="2430107"/>
            <a:ext cx="372164" cy="372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36"/>
          <p:cNvPicPr preferRelativeResize="0"/>
          <p:nvPr/>
        </p:nvPicPr>
        <p:blipFill rotWithShape="1">
          <a:blip r:embed="rId7">
            <a:alphaModFix/>
          </a:blip>
          <a:srcRect b="0" l="30141" r="28002" t="0"/>
          <a:stretch/>
        </p:blipFill>
        <p:spPr>
          <a:xfrm>
            <a:off x="4405366" y="2449923"/>
            <a:ext cx="355012" cy="286262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36"/>
          <p:cNvSpPr/>
          <p:nvPr/>
        </p:nvSpPr>
        <p:spPr>
          <a:xfrm>
            <a:off x="5078017" y="3248697"/>
            <a:ext cx="2645100" cy="1286700"/>
          </a:xfrm>
          <a:prstGeom prst="roundRect">
            <a:avLst>
              <a:gd fmla="val 11679" name="adj"/>
            </a:avLst>
          </a:prstGeom>
          <a:solidFill>
            <a:srgbClr val="E76A28"/>
          </a:solidFill>
          <a:ln>
            <a:noFill/>
          </a:ln>
          <a:effectLst>
            <a:outerShdw blurRad="51780" rotWithShape="0" algn="bl" dir="5400000" dist="17260">
              <a:srgbClr val="000000">
                <a:alpha val="23000"/>
              </a:srgbClr>
            </a:outerShdw>
          </a:effectLst>
        </p:spPr>
        <p:txBody>
          <a:bodyPr anchorCtr="0" anchor="ctr" bIns="82825" lIns="82825" spcFirstLastPara="1" rIns="82825" wrap="square" tIns="82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8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03" name="Google Shape;603;p36"/>
          <p:cNvSpPr/>
          <p:nvPr/>
        </p:nvSpPr>
        <p:spPr>
          <a:xfrm>
            <a:off x="5078017" y="3248722"/>
            <a:ext cx="2645100" cy="12399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82825" lIns="82825" spcFirstLastPara="1" rIns="82825" wrap="square" tIns="82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8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rPr>
              <a:t> </a:t>
            </a:r>
            <a:endParaRPr sz="1268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04" name="Google Shape;604;p36"/>
          <p:cNvSpPr txBox="1"/>
          <p:nvPr/>
        </p:nvSpPr>
        <p:spPr>
          <a:xfrm>
            <a:off x="5078017" y="3335178"/>
            <a:ext cx="2645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2825" lIns="82825" spcFirstLastPara="1" rIns="82825" wrap="square" tIns="82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9">
                <a:solidFill>
                  <a:srgbClr val="F973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Librerías y Herramientas</a:t>
            </a:r>
            <a:endParaRPr sz="815">
              <a:solidFill>
                <a:srgbClr val="F9731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05" name="Google Shape;605;p36"/>
          <p:cNvSpPr txBox="1"/>
          <p:nvPr/>
        </p:nvSpPr>
        <p:spPr>
          <a:xfrm>
            <a:off x="5075401" y="4073935"/>
            <a:ext cx="663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Langchain </a:t>
            </a:r>
            <a:r>
              <a:rPr b="1" lang="en" sz="434">
                <a:latin typeface="Poppins"/>
                <a:ea typeface="Poppins"/>
                <a:cs typeface="Poppins"/>
                <a:sym typeface="Poppins"/>
              </a:rPr>
              <a:t>+ </a:t>
            </a: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OpenAI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Generación de preguntas (GPT-4)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6" name="Google Shape;606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82198" y="3775700"/>
            <a:ext cx="292330" cy="291031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36"/>
          <p:cNvSpPr txBox="1"/>
          <p:nvPr/>
        </p:nvSpPr>
        <p:spPr>
          <a:xfrm>
            <a:off x="6519700" y="4091848"/>
            <a:ext cx="6327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4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iText7 8.0.2 - DocumentFormat.OpenXml 3.0.1 - 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8" name="Google Shape;608;p36"/>
          <p:cNvPicPr preferRelativeResize="0"/>
          <p:nvPr/>
        </p:nvPicPr>
        <p:blipFill rotWithShape="1">
          <a:blip r:embed="rId9">
            <a:alphaModFix/>
          </a:blip>
          <a:srcRect b="13496" l="15672" r="14548" t="16966"/>
          <a:stretch/>
        </p:blipFill>
        <p:spPr>
          <a:xfrm>
            <a:off x="6703300" y="3788420"/>
            <a:ext cx="253425" cy="25253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36"/>
          <p:cNvSpPr txBox="1"/>
          <p:nvPr/>
        </p:nvSpPr>
        <p:spPr>
          <a:xfrm>
            <a:off x="7096263" y="4073935"/>
            <a:ext cx="5334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NAudio 2.2.1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Procesamiento de audio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0" name="Google Shape;610;p36"/>
          <p:cNvPicPr preferRelativeResize="0"/>
          <p:nvPr/>
        </p:nvPicPr>
        <p:blipFill rotWithShape="1">
          <a:blip r:embed="rId10">
            <a:alphaModFix/>
          </a:blip>
          <a:srcRect b="0" l="0" r="71678" t="0"/>
          <a:stretch/>
        </p:blipFill>
        <p:spPr>
          <a:xfrm>
            <a:off x="7224938" y="3784197"/>
            <a:ext cx="276024" cy="225152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36"/>
          <p:cNvSpPr/>
          <p:nvPr/>
        </p:nvSpPr>
        <p:spPr>
          <a:xfrm>
            <a:off x="3512050" y="3253422"/>
            <a:ext cx="1460400" cy="1286700"/>
          </a:xfrm>
          <a:prstGeom prst="roundRect">
            <a:avLst>
              <a:gd fmla="val 11679" name="adj"/>
            </a:avLst>
          </a:prstGeom>
          <a:solidFill>
            <a:srgbClr val="E76A28"/>
          </a:solidFill>
          <a:ln>
            <a:noFill/>
          </a:ln>
          <a:effectLst>
            <a:outerShdw blurRad="51780" rotWithShape="0" algn="bl" dir="5400000" dist="17260">
              <a:srgbClr val="000000">
                <a:alpha val="23000"/>
              </a:srgbClr>
            </a:outerShdw>
          </a:effectLst>
        </p:spPr>
        <p:txBody>
          <a:bodyPr anchorCtr="0" anchor="ctr" bIns="82825" lIns="82825" spcFirstLastPara="1" rIns="82825" wrap="square" tIns="82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8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12" name="Google Shape;612;p36"/>
          <p:cNvSpPr/>
          <p:nvPr/>
        </p:nvSpPr>
        <p:spPr>
          <a:xfrm>
            <a:off x="3512050" y="3253422"/>
            <a:ext cx="1460400" cy="12378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82825" lIns="82825" spcFirstLastPara="1" rIns="82825" wrap="square" tIns="82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8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rPr>
              <a:t> </a:t>
            </a:r>
            <a:endParaRPr sz="1268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13" name="Google Shape;613;p36"/>
          <p:cNvSpPr txBox="1"/>
          <p:nvPr/>
        </p:nvSpPr>
        <p:spPr>
          <a:xfrm>
            <a:off x="3512050" y="3338350"/>
            <a:ext cx="14604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82825" lIns="82825" spcFirstLastPara="1" rIns="82825" wrap="square" tIns="82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1">
                <a:solidFill>
                  <a:srgbClr val="F973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Base de datos</a:t>
            </a:r>
            <a:endParaRPr sz="706">
              <a:solidFill>
                <a:srgbClr val="F9731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14" name="Google Shape;614;p36"/>
          <p:cNvSpPr txBox="1"/>
          <p:nvPr/>
        </p:nvSpPr>
        <p:spPr>
          <a:xfrm>
            <a:off x="3568777" y="4069607"/>
            <a:ext cx="6327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51175" lIns="51175" spcFirstLastPara="1" rIns="51175" wrap="square" tIns="511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2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PostgreSQL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Base de datos relacional principal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5" name="Google Shape;615;p36"/>
          <p:cNvPicPr preferRelativeResize="0"/>
          <p:nvPr/>
        </p:nvPicPr>
        <p:blipFill rotWithShape="1">
          <a:blip r:embed="rId11">
            <a:alphaModFix/>
          </a:blip>
          <a:srcRect b="6691" l="28486" r="27968" t="9878"/>
          <a:stretch/>
        </p:blipFill>
        <p:spPr>
          <a:xfrm>
            <a:off x="3739376" y="3790447"/>
            <a:ext cx="260800" cy="262342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36"/>
          <p:cNvSpPr txBox="1"/>
          <p:nvPr/>
        </p:nvSpPr>
        <p:spPr>
          <a:xfrm>
            <a:off x="4274009" y="4072948"/>
            <a:ext cx="6327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1175" lIns="51175" spcFirstLastPara="1" rIns="51175" wrap="square" tIns="511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2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Qdrant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Base de datos vectorial para IA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7" name="Google Shape;617;p36"/>
          <p:cNvPicPr preferRelativeResize="0"/>
          <p:nvPr/>
        </p:nvPicPr>
        <p:blipFill rotWithShape="1">
          <a:blip r:embed="rId12">
            <a:alphaModFix/>
          </a:blip>
          <a:srcRect b="8824" l="0" r="0" t="7849"/>
          <a:stretch/>
        </p:blipFill>
        <p:spPr>
          <a:xfrm>
            <a:off x="4424053" y="3782658"/>
            <a:ext cx="332618" cy="277154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36"/>
          <p:cNvSpPr/>
          <p:nvPr/>
        </p:nvSpPr>
        <p:spPr>
          <a:xfrm>
            <a:off x="5078026" y="1383250"/>
            <a:ext cx="2645100" cy="1791900"/>
          </a:xfrm>
          <a:prstGeom prst="roundRect">
            <a:avLst>
              <a:gd fmla="val 11679" name="adj"/>
            </a:avLst>
          </a:prstGeom>
          <a:solidFill>
            <a:srgbClr val="E76A28"/>
          </a:solidFill>
          <a:ln>
            <a:noFill/>
          </a:ln>
          <a:effectLst>
            <a:outerShdw blurRad="51780" rotWithShape="0" algn="bl" dir="5400000" dist="17260">
              <a:srgbClr val="000000">
                <a:alpha val="23000"/>
              </a:srgbClr>
            </a:outerShdw>
          </a:effectLst>
        </p:spPr>
        <p:txBody>
          <a:bodyPr anchorCtr="0" anchor="ctr" bIns="82825" lIns="82825" spcFirstLastPara="1" rIns="82825" wrap="square" tIns="82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8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19" name="Google Shape;619;p36"/>
          <p:cNvSpPr/>
          <p:nvPr/>
        </p:nvSpPr>
        <p:spPr>
          <a:xfrm>
            <a:off x="5078051" y="1382964"/>
            <a:ext cx="2645100" cy="17415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82825" lIns="82825" spcFirstLastPara="1" rIns="82825" wrap="square" tIns="82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8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rPr>
              <a:t> </a:t>
            </a:r>
            <a:endParaRPr sz="1268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20" name="Google Shape;620;p36"/>
          <p:cNvSpPr txBox="1"/>
          <p:nvPr/>
        </p:nvSpPr>
        <p:spPr>
          <a:xfrm>
            <a:off x="5078026" y="1468178"/>
            <a:ext cx="2645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2825" lIns="82825" spcFirstLastPara="1" rIns="82825" wrap="square" tIns="82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9">
                <a:solidFill>
                  <a:srgbClr val="F973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Servicios Nube</a:t>
            </a:r>
            <a:endParaRPr sz="815">
              <a:solidFill>
                <a:srgbClr val="F9731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21" name="Google Shape;621;p36"/>
          <p:cNvSpPr txBox="1"/>
          <p:nvPr/>
        </p:nvSpPr>
        <p:spPr>
          <a:xfrm>
            <a:off x="5727598" y="2127605"/>
            <a:ext cx="5976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00" lIns="46100" spcFirstLastPara="1" rIns="46100" wrap="square" tIns="46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5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Azure Speech Service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3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Text-to-Speech y Speech-to-Text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2" name="Google Shape;622;p36"/>
          <p:cNvSpPr txBox="1"/>
          <p:nvPr/>
        </p:nvSpPr>
        <p:spPr>
          <a:xfrm>
            <a:off x="5192253" y="2761446"/>
            <a:ext cx="6636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00" lIns="46100" spcFirstLastPara="1" rIns="46100" wrap="square" tIns="46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5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Azure App Service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3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Hosting del backend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3" name="Google Shape;623;p36"/>
          <p:cNvSpPr txBox="1"/>
          <p:nvPr/>
        </p:nvSpPr>
        <p:spPr>
          <a:xfrm>
            <a:off x="5126693" y="2131065"/>
            <a:ext cx="6327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00" lIns="46100" spcFirstLastPara="1" rIns="46100" wrap="square" tIns="46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5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Azure Database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3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Almacenamiento en la nube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24" name="Google Shape;624;p3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310946" y="1860866"/>
            <a:ext cx="234830" cy="234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3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831017" y="1830344"/>
            <a:ext cx="355024" cy="288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3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397618" y="2515723"/>
            <a:ext cx="249617" cy="249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3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251497" y="2483867"/>
            <a:ext cx="299476" cy="299476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36"/>
          <p:cNvSpPr txBox="1"/>
          <p:nvPr/>
        </p:nvSpPr>
        <p:spPr>
          <a:xfrm>
            <a:off x="5963478" y="2762766"/>
            <a:ext cx="8742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00" lIns="46100" spcFirstLastPara="1" rIns="46100" wrap="square" tIns="46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5"/>
              <a:buFont typeface="Arial"/>
              <a:buNone/>
            </a:pPr>
            <a:r>
              <a:rPr b="1" lang="en" sz="434">
                <a:latin typeface="Poppins"/>
                <a:ea typeface="Poppins"/>
                <a:cs typeface="Poppins"/>
                <a:sym typeface="Poppins"/>
              </a:rPr>
              <a:t>Firebase Cloud Messaging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3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Servicio de notificaciones push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9" name="Google Shape;629;p36"/>
          <p:cNvSpPr/>
          <p:nvPr/>
        </p:nvSpPr>
        <p:spPr>
          <a:xfrm>
            <a:off x="1705450" y="1383250"/>
            <a:ext cx="1701000" cy="1545900"/>
          </a:xfrm>
          <a:prstGeom prst="roundRect">
            <a:avLst>
              <a:gd fmla="val 11679" name="adj"/>
            </a:avLst>
          </a:prstGeom>
          <a:solidFill>
            <a:srgbClr val="E76A28"/>
          </a:solidFill>
          <a:ln>
            <a:noFill/>
          </a:ln>
          <a:effectLst>
            <a:outerShdw blurRad="51780" rotWithShape="0" algn="bl" dir="5400000" dist="17260">
              <a:srgbClr val="000000">
                <a:alpha val="23000"/>
              </a:srgbClr>
            </a:outerShdw>
          </a:effectLst>
        </p:spPr>
        <p:txBody>
          <a:bodyPr anchorCtr="0" anchor="ctr" bIns="82825" lIns="82825" spcFirstLastPara="1" rIns="82825" wrap="square" tIns="82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8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30" name="Google Shape;630;p36"/>
          <p:cNvSpPr/>
          <p:nvPr/>
        </p:nvSpPr>
        <p:spPr>
          <a:xfrm>
            <a:off x="1705450" y="1383250"/>
            <a:ext cx="1701000" cy="14970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82825" lIns="82825" spcFirstLastPara="1" rIns="82825" wrap="square" tIns="82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8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rPr>
              <a:t> </a:t>
            </a:r>
            <a:endParaRPr sz="1268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31" name="Google Shape;631;p36"/>
          <p:cNvSpPr txBox="1"/>
          <p:nvPr/>
        </p:nvSpPr>
        <p:spPr>
          <a:xfrm>
            <a:off x="1705458" y="1469721"/>
            <a:ext cx="17010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2825" lIns="82825" spcFirstLastPara="1" rIns="82825" wrap="square" tIns="82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9">
                <a:solidFill>
                  <a:srgbClr val="F973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Backend</a:t>
            </a:r>
            <a:endParaRPr sz="815">
              <a:solidFill>
                <a:srgbClr val="F9731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32" name="Google Shape;632;p36"/>
          <p:cNvSpPr txBox="1"/>
          <p:nvPr/>
        </p:nvSpPr>
        <p:spPr>
          <a:xfrm>
            <a:off x="1705468" y="3150720"/>
            <a:ext cx="17010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2825" lIns="82825" spcFirstLastPara="1" rIns="82825" wrap="square" tIns="82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9">
                <a:solidFill>
                  <a:srgbClr val="F973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Herramientas</a:t>
            </a:r>
            <a:endParaRPr sz="815">
              <a:solidFill>
                <a:srgbClr val="F9731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descr="Github Logo PNG Vectors Free Download" id="633" name="Google Shape;633;p36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910667" y="3661015"/>
            <a:ext cx="295761" cy="295761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36"/>
          <p:cNvSpPr txBox="1"/>
          <p:nvPr/>
        </p:nvSpPr>
        <p:spPr>
          <a:xfrm>
            <a:off x="1852529" y="3993814"/>
            <a:ext cx="4119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58025" lIns="58025" spcFirstLastPara="1" rIns="58025" wrap="square" tIns="580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4">
                <a:latin typeface="Poppins"/>
                <a:ea typeface="Poppins"/>
                <a:cs typeface="Poppins"/>
                <a:sym typeface="Poppins"/>
              </a:rPr>
              <a:t>GitHub</a:t>
            </a:r>
            <a:endParaRPr b="1" sz="434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Jira Logo - símbolo, significado logotipo, historia, PNG" id="635" name="Google Shape;635;p36"/>
          <p:cNvPicPr preferRelativeResize="0"/>
          <p:nvPr/>
        </p:nvPicPr>
        <p:blipFill rotWithShape="1">
          <a:blip r:embed="rId18">
            <a:alphaModFix/>
          </a:blip>
          <a:srcRect b="28991" l="0" r="60987" t="16898"/>
          <a:stretch/>
        </p:blipFill>
        <p:spPr>
          <a:xfrm>
            <a:off x="2257509" y="3665235"/>
            <a:ext cx="314410" cy="295765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36"/>
          <p:cNvSpPr txBox="1"/>
          <p:nvPr/>
        </p:nvSpPr>
        <p:spPr>
          <a:xfrm>
            <a:off x="2200245" y="3993814"/>
            <a:ext cx="4119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58025" lIns="58025" spcFirstLastPara="1" rIns="58025" wrap="square" tIns="580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4">
                <a:latin typeface="Poppins"/>
                <a:ea typeface="Poppins"/>
                <a:cs typeface="Poppins"/>
                <a:sym typeface="Poppins"/>
              </a:rPr>
              <a:t>Jira</a:t>
            </a:r>
            <a:endParaRPr b="1" sz="434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37" name="Google Shape;637;p36" title="Canva-Logo-Design-Platform-Icon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2592193" y="3627154"/>
            <a:ext cx="377210" cy="37721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36"/>
          <p:cNvSpPr txBox="1"/>
          <p:nvPr/>
        </p:nvSpPr>
        <p:spPr>
          <a:xfrm>
            <a:off x="2574779" y="3993814"/>
            <a:ext cx="4119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58025" lIns="58025" spcFirstLastPara="1" rIns="58025" wrap="square" tIns="580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4">
                <a:latin typeface="Poppins"/>
                <a:ea typeface="Poppins"/>
                <a:cs typeface="Poppins"/>
                <a:sym typeface="Poppins"/>
              </a:rPr>
              <a:t>Canva</a:t>
            </a:r>
            <a:endParaRPr b="1" sz="434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File:Figma-logo.svg - Wikimedia Commons" id="639" name="Google Shape;639;p36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3061204" y="3691749"/>
            <a:ext cx="196928" cy="295761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36"/>
          <p:cNvSpPr txBox="1"/>
          <p:nvPr/>
        </p:nvSpPr>
        <p:spPr>
          <a:xfrm>
            <a:off x="2958260" y="3993814"/>
            <a:ext cx="4119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58025" lIns="58025" spcFirstLastPara="1" rIns="58025" wrap="square" tIns="580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4">
                <a:latin typeface="Poppins"/>
                <a:ea typeface="Poppins"/>
                <a:cs typeface="Poppins"/>
                <a:sym typeface="Poppins"/>
              </a:rPr>
              <a:t>Figma</a:t>
            </a:r>
            <a:endParaRPr b="1" sz="43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1" name="Google Shape;641;p36"/>
          <p:cNvSpPr txBox="1"/>
          <p:nvPr/>
        </p:nvSpPr>
        <p:spPr>
          <a:xfrm>
            <a:off x="2272119" y="2227108"/>
            <a:ext cx="565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35650" spcFirstLastPara="1" rIns="35650" wrap="square" tIns="35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8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.NET Core </a:t>
            </a:r>
            <a:r>
              <a:rPr b="1" lang="en" sz="434">
                <a:latin typeface="Poppins"/>
                <a:ea typeface="Poppins"/>
                <a:cs typeface="Poppins"/>
                <a:sym typeface="Poppins"/>
              </a:rPr>
              <a:t>8</a:t>
            </a: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.0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1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Framework backend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2" name="Google Shape;642;p3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440711" y="1993648"/>
            <a:ext cx="236233" cy="236242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36"/>
          <p:cNvSpPr txBox="1"/>
          <p:nvPr/>
        </p:nvSpPr>
        <p:spPr>
          <a:xfrm>
            <a:off x="1766808" y="2223392"/>
            <a:ext cx="565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35650" spcFirstLastPara="1" rIns="35650" wrap="square" tIns="35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8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ASP.NET Core </a:t>
            </a: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Web API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1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API REST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4" name="Google Shape;644;p3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917947" y="1986216"/>
            <a:ext cx="253433" cy="253433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36"/>
          <p:cNvSpPr txBox="1"/>
          <p:nvPr/>
        </p:nvSpPr>
        <p:spPr>
          <a:xfrm>
            <a:off x="2760027" y="2223068"/>
            <a:ext cx="5976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35650" spcFirstLastPara="1" rIns="35650" wrap="square" tIns="35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8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Entity</a:t>
            </a:r>
            <a:endParaRPr b="1" sz="434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8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Framework</a:t>
            </a:r>
            <a:r>
              <a:rPr b="1" lang="en" sz="434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Core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1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ORM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6" name="Google Shape;646;p36"/>
          <p:cNvPicPr preferRelativeResize="0"/>
          <p:nvPr/>
        </p:nvPicPr>
        <p:blipFill rotWithShape="1">
          <a:blip r:embed="rId23">
            <a:alphaModFix/>
          </a:blip>
          <a:srcRect b="0" l="13741" r="13936" t="0"/>
          <a:stretch/>
        </p:blipFill>
        <p:spPr>
          <a:xfrm>
            <a:off x="2918541" y="1993382"/>
            <a:ext cx="290903" cy="245011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36"/>
          <p:cNvSpPr txBox="1"/>
          <p:nvPr/>
        </p:nvSpPr>
        <p:spPr>
          <a:xfrm>
            <a:off x="6890675" y="2126036"/>
            <a:ext cx="8088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00" lIns="46100" spcFirstLastPara="1" rIns="46100" wrap="square" tIns="46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5"/>
              <a:buFont typeface="Arial"/>
              <a:buNone/>
            </a:pPr>
            <a:r>
              <a:rPr b="1" lang="en" sz="434">
                <a:latin typeface="Poppins"/>
                <a:ea typeface="Poppins"/>
                <a:cs typeface="Poppins"/>
                <a:sym typeface="Poppins"/>
              </a:rPr>
              <a:t>Azure Container Instances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3"/>
              <a:buFont typeface="Arial"/>
              <a:buNone/>
            </a:pPr>
            <a:r>
              <a:rPr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Servicio de </a:t>
            </a:r>
            <a:r>
              <a:rPr lang="en" sz="434">
                <a:latin typeface="Poppins"/>
                <a:ea typeface="Poppins"/>
                <a:cs typeface="Poppins"/>
                <a:sym typeface="Poppins"/>
              </a:rPr>
              <a:t>ejecución de contenedores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8" name="Google Shape;648;p36" title="azure_container_instances.jfif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7145345" y="1825084"/>
            <a:ext cx="299475" cy="299475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36"/>
          <p:cNvSpPr txBox="1"/>
          <p:nvPr/>
        </p:nvSpPr>
        <p:spPr>
          <a:xfrm>
            <a:off x="6781503" y="2761988"/>
            <a:ext cx="8742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00" lIns="46100" spcFirstLastPara="1" rIns="46100" wrap="square" tIns="46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5"/>
              <a:buFont typeface="Arial"/>
              <a:buNone/>
            </a:pPr>
            <a:r>
              <a:rPr b="1" lang="en" sz="434">
                <a:latin typeface="Poppins"/>
                <a:ea typeface="Poppins"/>
                <a:cs typeface="Poppins"/>
                <a:sym typeface="Poppins"/>
              </a:rPr>
              <a:t>Azure Blob Storage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3"/>
              <a:buFont typeface="Arial"/>
              <a:buNone/>
            </a:pPr>
            <a:r>
              <a:rPr lang="en" sz="434">
                <a:latin typeface="Poppins"/>
                <a:ea typeface="Poppins"/>
                <a:cs typeface="Poppins"/>
                <a:sym typeface="Poppins"/>
              </a:rPr>
              <a:t>Almacenamiento en la nube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0" name="Google Shape;650;p36" title="images (2).png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7070725" y="2514256"/>
            <a:ext cx="295750" cy="263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36" title="descarga.png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6381600" y="1870337"/>
            <a:ext cx="411900" cy="216249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36"/>
          <p:cNvSpPr txBox="1"/>
          <p:nvPr/>
        </p:nvSpPr>
        <p:spPr>
          <a:xfrm>
            <a:off x="6381601" y="2131413"/>
            <a:ext cx="5064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00" lIns="46100" spcFirstLastPara="1" rIns="46100" wrap="square" tIns="46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5"/>
              <a:buFont typeface="Arial"/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Azure </a:t>
            </a:r>
            <a:r>
              <a:rPr b="1" lang="en" sz="434">
                <a:latin typeface="Poppins"/>
                <a:ea typeface="Poppins"/>
                <a:cs typeface="Poppins"/>
                <a:sym typeface="Poppins"/>
              </a:rPr>
              <a:t>Static Web Apps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3"/>
              <a:buFont typeface="Arial"/>
              <a:buNone/>
            </a:pPr>
            <a:r>
              <a:rPr lang="en" sz="434">
                <a:latin typeface="Poppins"/>
                <a:ea typeface="Poppins"/>
                <a:cs typeface="Poppins"/>
                <a:sym typeface="Poppins"/>
              </a:rPr>
              <a:t>Servicio de 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3" name="Google Shape;653;p36" title="Gemini-Logo (1).png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5876138" y="3732687"/>
            <a:ext cx="506400" cy="2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36"/>
          <p:cNvSpPr txBox="1"/>
          <p:nvPr/>
        </p:nvSpPr>
        <p:spPr>
          <a:xfrm>
            <a:off x="5797551" y="4055277"/>
            <a:ext cx="6636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44975" spcFirstLastPara="1" rIns="44975" wrap="square" tIns="44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"/>
              <a:buFont typeface="Arial"/>
              <a:buNone/>
            </a:pPr>
            <a:r>
              <a:rPr b="1" lang="en" sz="434">
                <a:latin typeface="Poppins"/>
                <a:ea typeface="Poppins"/>
                <a:cs typeface="Poppins"/>
                <a:sym typeface="Poppins"/>
              </a:rPr>
              <a:t>GEMINI version</a:t>
            </a:r>
            <a:endParaRPr b="1"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"/>
              <a:buFont typeface="Arial"/>
              <a:buNone/>
            </a:pPr>
            <a:r>
              <a:rPr lang="en" sz="434">
                <a:latin typeface="Poppins"/>
                <a:ea typeface="Poppins"/>
                <a:cs typeface="Poppins"/>
                <a:sym typeface="Poppins"/>
              </a:rPr>
              <a:t>Supervisión y Correcciòn  de preguntas (modelo)</a:t>
            </a:r>
            <a:endParaRPr i="0" sz="43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7"/>
          <p:cNvSpPr txBox="1"/>
          <p:nvPr>
            <p:ph idx="4294967295" type="title"/>
          </p:nvPr>
        </p:nvSpPr>
        <p:spPr>
          <a:xfrm>
            <a:off x="1563375" y="694275"/>
            <a:ext cx="386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DEMOSTRACIÓN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60" name="Google Shape;660;p37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37"/>
          <p:cNvSpPr/>
          <p:nvPr/>
        </p:nvSpPr>
        <p:spPr>
          <a:xfrm>
            <a:off x="1665410" y="1506725"/>
            <a:ext cx="6240000" cy="2829300"/>
          </a:xfrm>
          <a:prstGeom prst="roundRect">
            <a:avLst>
              <a:gd fmla="val 9333" name="adj"/>
            </a:avLst>
          </a:prstGeom>
          <a:solidFill>
            <a:srgbClr val="FAF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pic>
        <p:nvPicPr>
          <p:cNvPr id="662" name="Google Shape;662;p37" title="original-18d8380e87a62bf766cfe8ef4c33727b.gif"/>
          <p:cNvPicPr preferRelativeResize="0"/>
          <p:nvPr/>
        </p:nvPicPr>
        <p:blipFill rotWithShape="1">
          <a:blip r:embed="rId4">
            <a:alphaModFix/>
          </a:blip>
          <a:srcRect b="10094" l="-10030" r="-12894" t="2804"/>
          <a:stretch/>
        </p:blipFill>
        <p:spPr>
          <a:xfrm>
            <a:off x="2292825" y="1506725"/>
            <a:ext cx="5029850" cy="26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8"/>
          <p:cNvSpPr txBox="1"/>
          <p:nvPr>
            <p:ph idx="4294967295" type="title"/>
          </p:nvPr>
        </p:nvSpPr>
        <p:spPr>
          <a:xfrm>
            <a:off x="1563375" y="694275"/>
            <a:ext cx="554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RESULTADOS OBTENIDOS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68" name="Google Shape;668;p38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38"/>
          <p:cNvSpPr/>
          <p:nvPr/>
        </p:nvSpPr>
        <p:spPr>
          <a:xfrm>
            <a:off x="744425" y="2716250"/>
            <a:ext cx="2998200" cy="1370700"/>
          </a:xfrm>
          <a:prstGeom prst="roundRect">
            <a:avLst>
              <a:gd fmla="val 11679" name="adj"/>
            </a:avLst>
          </a:prstGeom>
          <a:solidFill>
            <a:srgbClr val="F97315"/>
          </a:solidFill>
          <a:ln>
            <a:noFill/>
          </a:ln>
          <a:effectLst>
            <a:outerShdw blurRad="46402" rotWithShape="0" algn="bl" dir="5400000" dist="15467">
              <a:srgbClr val="000000">
                <a:alpha val="23000"/>
              </a:srgbClr>
            </a:outerShdw>
          </a:effectLst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70" name="Google Shape;670;p38"/>
          <p:cNvSpPr/>
          <p:nvPr/>
        </p:nvSpPr>
        <p:spPr>
          <a:xfrm>
            <a:off x="744425" y="2716250"/>
            <a:ext cx="2998200" cy="13209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71" name="Google Shape;671;p38"/>
          <p:cNvSpPr txBox="1"/>
          <p:nvPr/>
        </p:nvSpPr>
        <p:spPr>
          <a:xfrm>
            <a:off x="863793" y="2793751"/>
            <a:ext cx="20961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99">
                <a:solidFill>
                  <a:srgbClr val="F973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Aprendizajes Técnicos</a:t>
            </a:r>
            <a:endParaRPr sz="730">
              <a:solidFill>
                <a:srgbClr val="F9731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72" name="Google Shape;672;p38"/>
          <p:cNvSpPr txBox="1"/>
          <p:nvPr/>
        </p:nvSpPr>
        <p:spPr>
          <a:xfrm>
            <a:off x="744427" y="3143784"/>
            <a:ext cx="29982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-237166" lvl="0" marL="37121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12"/>
              <a:buFont typeface="Poppins"/>
              <a:buChar char="●"/>
            </a:pPr>
            <a:r>
              <a:rPr lang="en" sz="811">
                <a:latin typeface="Poppins"/>
                <a:ea typeface="Poppins"/>
                <a:cs typeface="Poppins"/>
                <a:sym typeface="Poppins"/>
              </a:rPr>
              <a:t>Dominio de Angular y .NET Core</a:t>
            </a:r>
            <a:endParaRPr sz="811">
              <a:latin typeface="Poppins"/>
              <a:ea typeface="Poppins"/>
              <a:cs typeface="Poppins"/>
              <a:sym typeface="Poppins"/>
            </a:endParaRPr>
          </a:p>
          <a:p>
            <a:pPr indent="-237166" lvl="0" marL="37121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12"/>
              <a:buFont typeface="Poppins"/>
              <a:buChar char="●"/>
            </a:pPr>
            <a:r>
              <a:rPr lang="en" sz="811">
                <a:latin typeface="Poppins"/>
                <a:ea typeface="Poppins"/>
                <a:cs typeface="Poppins"/>
                <a:sym typeface="Poppins"/>
              </a:rPr>
              <a:t>Experiencia con servicios de Azure</a:t>
            </a:r>
            <a:endParaRPr sz="811">
              <a:latin typeface="Poppins"/>
              <a:ea typeface="Poppins"/>
              <a:cs typeface="Poppins"/>
              <a:sym typeface="Poppins"/>
            </a:endParaRPr>
          </a:p>
          <a:p>
            <a:pPr indent="-237166" lvl="0" marL="37121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12"/>
              <a:buFont typeface="Poppins"/>
              <a:buChar char="●"/>
            </a:pPr>
            <a:r>
              <a:rPr lang="en" sz="811">
                <a:latin typeface="Poppins"/>
                <a:ea typeface="Poppins"/>
                <a:cs typeface="Poppins"/>
                <a:sym typeface="Poppins"/>
              </a:rPr>
              <a:t>Integración de IA en aplicaciones móviles</a:t>
            </a:r>
            <a:endParaRPr sz="811">
              <a:latin typeface="Poppins"/>
              <a:ea typeface="Poppins"/>
              <a:cs typeface="Poppins"/>
              <a:sym typeface="Poppins"/>
            </a:endParaRPr>
          </a:p>
          <a:p>
            <a:pPr indent="-237166" lvl="0" marL="37121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12"/>
              <a:buFont typeface="Poppins"/>
              <a:buChar char="●"/>
            </a:pPr>
            <a:r>
              <a:rPr lang="en" sz="811">
                <a:latin typeface="Poppins"/>
                <a:ea typeface="Poppins"/>
                <a:cs typeface="Poppins"/>
                <a:sym typeface="Poppins"/>
              </a:rPr>
              <a:t>Gestión de proyectos ágiles</a:t>
            </a:r>
            <a:endParaRPr sz="81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3" name="Google Shape;673;p38"/>
          <p:cNvSpPr/>
          <p:nvPr/>
        </p:nvSpPr>
        <p:spPr>
          <a:xfrm>
            <a:off x="744400" y="1496625"/>
            <a:ext cx="2998200" cy="1117800"/>
          </a:xfrm>
          <a:prstGeom prst="roundRect">
            <a:avLst>
              <a:gd fmla="val 11679" name="adj"/>
            </a:avLst>
          </a:prstGeom>
          <a:solidFill>
            <a:srgbClr val="F97315"/>
          </a:solidFill>
          <a:ln>
            <a:noFill/>
          </a:ln>
          <a:effectLst>
            <a:outerShdw blurRad="46402" rotWithShape="0" algn="bl" dir="5400000" dist="15467">
              <a:srgbClr val="000000">
                <a:alpha val="23000"/>
              </a:srgbClr>
            </a:outerShdw>
          </a:effectLst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74" name="Google Shape;674;p38"/>
          <p:cNvSpPr/>
          <p:nvPr/>
        </p:nvSpPr>
        <p:spPr>
          <a:xfrm>
            <a:off x="744400" y="1496625"/>
            <a:ext cx="2998200" cy="10767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75" name="Google Shape;675;p38"/>
          <p:cNvSpPr txBox="1"/>
          <p:nvPr/>
        </p:nvSpPr>
        <p:spPr>
          <a:xfrm>
            <a:off x="863759" y="1574119"/>
            <a:ext cx="20961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99">
                <a:solidFill>
                  <a:srgbClr val="F973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Objetivos Cumplidos</a:t>
            </a:r>
            <a:endParaRPr sz="730">
              <a:solidFill>
                <a:srgbClr val="F9731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76" name="Google Shape;676;p38"/>
          <p:cNvSpPr txBox="1"/>
          <p:nvPr/>
        </p:nvSpPr>
        <p:spPr>
          <a:xfrm>
            <a:off x="744404" y="1924113"/>
            <a:ext cx="29982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-237166" lvl="0" marL="371217" rtl="0" algn="l">
              <a:lnSpc>
                <a:spcPct val="115000"/>
              </a:lnSpc>
              <a:spcBef>
                <a:spcPts val="974"/>
              </a:spcBef>
              <a:spcAft>
                <a:spcPts val="0"/>
              </a:spcAft>
              <a:buSzPts val="812"/>
              <a:buFont typeface="Poppins"/>
              <a:buChar char="●"/>
            </a:pPr>
            <a:r>
              <a:rPr lang="en" sz="811">
                <a:latin typeface="Poppins"/>
                <a:ea typeface="Poppins"/>
                <a:cs typeface="Poppins"/>
                <a:sym typeface="Poppins"/>
              </a:rPr>
              <a:t>100</a:t>
            </a:r>
            <a:r>
              <a:rPr lang="en" sz="811">
                <a:latin typeface="Poppins"/>
                <a:ea typeface="Poppins"/>
                <a:cs typeface="Poppins"/>
                <a:sym typeface="Poppins"/>
              </a:rPr>
              <a:t>% de las historias de usuario completadas</a:t>
            </a:r>
            <a:endParaRPr sz="811">
              <a:latin typeface="Poppins"/>
              <a:ea typeface="Poppins"/>
              <a:cs typeface="Poppins"/>
              <a:sym typeface="Poppins"/>
            </a:endParaRPr>
          </a:p>
          <a:p>
            <a:pPr indent="-237166" lvl="0" marL="37121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12"/>
              <a:buFont typeface="Poppins"/>
              <a:buChar char="●"/>
            </a:pPr>
            <a:r>
              <a:rPr lang="en" sz="811">
                <a:latin typeface="Poppins"/>
                <a:ea typeface="Poppins"/>
                <a:cs typeface="Poppins"/>
                <a:sym typeface="Poppins"/>
              </a:rPr>
              <a:t>6 sprints ejecutados según planificación</a:t>
            </a:r>
            <a:endParaRPr sz="811">
              <a:latin typeface="Poppins"/>
              <a:ea typeface="Poppins"/>
              <a:cs typeface="Poppins"/>
              <a:sym typeface="Poppins"/>
            </a:endParaRPr>
          </a:p>
          <a:p>
            <a:pPr indent="-237166" lvl="0" marL="37121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12"/>
              <a:buFont typeface="Poppins"/>
              <a:buChar char="●"/>
            </a:pPr>
            <a:r>
              <a:rPr lang="en" sz="811">
                <a:latin typeface="Poppins"/>
                <a:ea typeface="Poppins"/>
                <a:cs typeface="Poppins"/>
                <a:sym typeface="Poppins"/>
              </a:rPr>
              <a:t>Release 1  y 2 entregado a tiempo</a:t>
            </a:r>
            <a:endParaRPr sz="73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7" name="Google Shape;677;p38"/>
          <p:cNvSpPr/>
          <p:nvPr/>
        </p:nvSpPr>
        <p:spPr>
          <a:xfrm>
            <a:off x="3823916" y="2716250"/>
            <a:ext cx="2998200" cy="1370700"/>
          </a:xfrm>
          <a:prstGeom prst="roundRect">
            <a:avLst>
              <a:gd fmla="val 11679" name="adj"/>
            </a:avLst>
          </a:prstGeom>
          <a:solidFill>
            <a:srgbClr val="F97315"/>
          </a:solidFill>
          <a:ln>
            <a:noFill/>
          </a:ln>
          <a:effectLst>
            <a:outerShdw blurRad="46402" rotWithShape="0" algn="bl" dir="5400000" dist="15467">
              <a:srgbClr val="000000">
                <a:alpha val="23000"/>
              </a:srgbClr>
            </a:outerShdw>
          </a:effectLst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78" name="Google Shape;678;p38"/>
          <p:cNvSpPr/>
          <p:nvPr/>
        </p:nvSpPr>
        <p:spPr>
          <a:xfrm>
            <a:off x="3823916" y="2716250"/>
            <a:ext cx="2998200" cy="13209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79" name="Google Shape;679;p38"/>
          <p:cNvSpPr txBox="1"/>
          <p:nvPr/>
        </p:nvSpPr>
        <p:spPr>
          <a:xfrm>
            <a:off x="3943276" y="2793751"/>
            <a:ext cx="20961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99">
                <a:solidFill>
                  <a:srgbClr val="F973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Calidad Técnica</a:t>
            </a:r>
            <a:endParaRPr sz="730">
              <a:solidFill>
                <a:srgbClr val="F9731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80" name="Google Shape;680;p38"/>
          <p:cNvSpPr txBox="1"/>
          <p:nvPr/>
        </p:nvSpPr>
        <p:spPr>
          <a:xfrm>
            <a:off x="3823910" y="3143784"/>
            <a:ext cx="29982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-237166" lvl="0" marL="37121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12"/>
              <a:buFont typeface="Poppins"/>
              <a:buChar char="●"/>
            </a:pPr>
            <a:r>
              <a:rPr lang="en" sz="811">
                <a:latin typeface="Poppins"/>
                <a:ea typeface="Poppins"/>
                <a:cs typeface="Poppins"/>
                <a:sym typeface="Poppins"/>
              </a:rPr>
              <a:t>Arquitectura escalable</a:t>
            </a:r>
            <a:endParaRPr sz="811">
              <a:latin typeface="Poppins"/>
              <a:ea typeface="Poppins"/>
              <a:cs typeface="Poppins"/>
              <a:sym typeface="Poppins"/>
            </a:endParaRPr>
          </a:p>
          <a:p>
            <a:pPr indent="-237166" lvl="0" marL="37121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12"/>
              <a:buFont typeface="Poppins"/>
              <a:buChar char="●"/>
            </a:pPr>
            <a:r>
              <a:rPr lang="en" sz="811">
                <a:latin typeface="Poppins"/>
                <a:ea typeface="Poppins"/>
                <a:cs typeface="Poppins"/>
                <a:sym typeface="Poppins"/>
              </a:rPr>
              <a:t>Código documentado y versionado en Git</a:t>
            </a:r>
            <a:endParaRPr sz="811">
              <a:latin typeface="Poppins"/>
              <a:ea typeface="Poppins"/>
              <a:cs typeface="Poppins"/>
              <a:sym typeface="Poppins"/>
            </a:endParaRPr>
          </a:p>
          <a:p>
            <a:pPr indent="-237166" lvl="0" marL="37121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12"/>
              <a:buFont typeface="Poppins"/>
              <a:buChar char="●"/>
            </a:pPr>
            <a:r>
              <a:rPr lang="en" sz="811">
                <a:latin typeface="Poppins"/>
                <a:ea typeface="Poppins"/>
                <a:cs typeface="Poppins"/>
                <a:sym typeface="Poppins"/>
              </a:rPr>
              <a:t>Buenas prácticas de desarrollo aplicada</a:t>
            </a:r>
            <a:endParaRPr sz="81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1" name="Google Shape;681;p38"/>
          <p:cNvSpPr/>
          <p:nvPr/>
        </p:nvSpPr>
        <p:spPr>
          <a:xfrm>
            <a:off x="3823882" y="1496625"/>
            <a:ext cx="2998200" cy="1117800"/>
          </a:xfrm>
          <a:prstGeom prst="roundRect">
            <a:avLst>
              <a:gd fmla="val 11679" name="adj"/>
            </a:avLst>
          </a:prstGeom>
          <a:solidFill>
            <a:srgbClr val="F97315"/>
          </a:solidFill>
          <a:ln>
            <a:noFill/>
          </a:ln>
          <a:effectLst>
            <a:outerShdw blurRad="46402" rotWithShape="0" algn="bl" dir="5400000" dist="15467">
              <a:srgbClr val="000000">
                <a:alpha val="23000"/>
              </a:srgbClr>
            </a:outerShdw>
          </a:effectLst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82" name="Google Shape;682;p38"/>
          <p:cNvSpPr/>
          <p:nvPr/>
        </p:nvSpPr>
        <p:spPr>
          <a:xfrm>
            <a:off x="3823882" y="1496625"/>
            <a:ext cx="2998200" cy="10764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83" name="Google Shape;683;p38"/>
          <p:cNvSpPr txBox="1"/>
          <p:nvPr/>
        </p:nvSpPr>
        <p:spPr>
          <a:xfrm>
            <a:off x="3909182" y="1574109"/>
            <a:ext cx="30321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99">
                <a:solidFill>
                  <a:srgbClr val="F973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MVP Completamente Funcional</a:t>
            </a:r>
            <a:endParaRPr sz="730">
              <a:solidFill>
                <a:srgbClr val="F9731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84" name="Google Shape;684;p38"/>
          <p:cNvSpPr txBox="1"/>
          <p:nvPr/>
        </p:nvSpPr>
        <p:spPr>
          <a:xfrm>
            <a:off x="3823886" y="1924113"/>
            <a:ext cx="30321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-237166" lvl="0" marL="37121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12"/>
              <a:buFont typeface="Poppins"/>
              <a:buChar char="●"/>
            </a:pPr>
            <a:r>
              <a:rPr lang="en" sz="811">
                <a:latin typeface="Poppins"/>
                <a:ea typeface="Poppins"/>
                <a:cs typeface="Poppins"/>
                <a:sym typeface="Poppins"/>
              </a:rPr>
              <a:t>Todas las funcionalidades principales implementadas</a:t>
            </a:r>
            <a:endParaRPr sz="811">
              <a:latin typeface="Poppins"/>
              <a:ea typeface="Poppins"/>
              <a:cs typeface="Poppins"/>
              <a:sym typeface="Poppins"/>
            </a:endParaRPr>
          </a:p>
          <a:p>
            <a:pPr indent="-237166" lvl="0" marL="37121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12"/>
              <a:buFont typeface="Poppins"/>
              <a:buChar char="●"/>
            </a:pPr>
            <a:r>
              <a:rPr lang="en" sz="811">
                <a:latin typeface="Poppins"/>
                <a:ea typeface="Poppins"/>
                <a:cs typeface="Poppins"/>
                <a:sym typeface="Poppins"/>
              </a:rPr>
              <a:t>Integración exitosa con servicios de IA</a:t>
            </a:r>
            <a:endParaRPr sz="81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5" name="Google Shape;685;p38"/>
          <p:cNvSpPr/>
          <p:nvPr/>
        </p:nvSpPr>
        <p:spPr>
          <a:xfrm>
            <a:off x="6905475" y="1496625"/>
            <a:ext cx="1606500" cy="2590200"/>
          </a:xfrm>
          <a:prstGeom prst="roundRect">
            <a:avLst>
              <a:gd fmla="val 11679" name="adj"/>
            </a:avLst>
          </a:prstGeom>
          <a:solidFill>
            <a:srgbClr val="F97315"/>
          </a:solidFill>
          <a:ln>
            <a:noFill/>
          </a:ln>
          <a:effectLst>
            <a:outerShdw blurRad="46402" rotWithShape="0" algn="bl" dir="5400000" dist="15467">
              <a:srgbClr val="000000">
                <a:alpha val="23000"/>
              </a:srgbClr>
            </a:outerShdw>
          </a:effectLst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86" name="Google Shape;686;p38"/>
          <p:cNvSpPr/>
          <p:nvPr/>
        </p:nvSpPr>
        <p:spPr>
          <a:xfrm>
            <a:off x="6905478" y="1496625"/>
            <a:ext cx="1606500" cy="25428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87" name="Google Shape;687;p38"/>
          <p:cNvSpPr txBox="1"/>
          <p:nvPr/>
        </p:nvSpPr>
        <p:spPr>
          <a:xfrm>
            <a:off x="6937200" y="1581566"/>
            <a:ext cx="16065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973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Trabajo en Equipo</a:t>
            </a:r>
            <a:endParaRPr sz="1200">
              <a:solidFill>
                <a:srgbClr val="F9731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88" name="Google Shape;688;p38"/>
          <p:cNvSpPr txBox="1"/>
          <p:nvPr/>
        </p:nvSpPr>
        <p:spPr>
          <a:xfrm>
            <a:off x="6853875" y="2064675"/>
            <a:ext cx="1652700" cy="1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-270760" lvl="0" marL="443061" rtl="0" algn="l">
              <a:lnSpc>
                <a:spcPct val="115000"/>
              </a:lnSpc>
              <a:spcBef>
                <a:spcPts val="1163"/>
              </a:spcBef>
              <a:spcAft>
                <a:spcPts val="0"/>
              </a:spcAft>
              <a:buSzPts val="775"/>
              <a:buFont typeface="Poppins"/>
              <a:buChar char="●"/>
            </a:pPr>
            <a:r>
              <a:rPr lang="en" sz="775">
                <a:latin typeface="Poppins"/>
                <a:ea typeface="Poppins"/>
                <a:cs typeface="Poppins"/>
                <a:sym typeface="Poppins"/>
              </a:rPr>
              <a:t>Coordinación efectiva bajo metodología Scrum</a:t>
            </a:r>
            <a:br>
              <a:rPr lang="en" sz="775">
                <a:latin typeface="Poppins"/>
                <a:ea typeface="Poppins"/>
                <a:cs typeface="Poppins"/>
                <a:sym typeface="Poppins"/>
              </a:rPr>
            </a:br>
            <a:endParaRPr sz="775">
              <a:latin typeface="Poppins"/>
              <a:ea typeface="Poppins"/>
              <a:cs typeface="Poppins"/>
              <a:sym typeface="Poppins"/>
            </a:endParaRPr>
          </a:p>
          <a:p>
            <a:pPr indent="-270760" lvl="0" marL="44306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75"/>
              <a:buFont typeface="Poppins"/>
              <a:buChar char="●"/>
            </a:pPr>
            <a:r>
              <a:rPr lang="en" sz="775">
                <a:latin typeface="Poppins"/>
                <a:ea typeface="Poppins"/>
                <a:cs typeface="Poppins"/>
                <a:sym typeface="Poppins"/>
              </a:rPr>
              <a:t>Distribución equitativa de responsabilidades</a:t>
            </a:r>
            <a:br>
              <a:rPr lang="en" sz="775">
                <a:latin typeface="Poppins"/>
                <a:ea typeface="Poppins"/>
                <a:cs typeface="Poppins"/>
                <a:sym typeface="Poppins"/>
              </a:rPr>
            </a:br>
            <a:endParaRPr sz="775">
              <a:latin typeface="Poppins"/>
              <a:ea typeface="Poppins"/>
              <a:cs typeface="Poppins"/>
              <a:sym typeface="Poppins"/>
            </a:endParaRPr>
          </a:p>
          <a:p>
            <a:pPr indent="-270760" lvl="0" marL="44306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75"/>
              <a:buFont typeface="Poppins"/>
              <a:buChar char="●"/>
            </a:pPr>
            <a:r>
              <a:rPr lang="en" sz="775">
                <a:latin typeface="Poppins"/>
                <a:ea typeface="Poppins"/>
                <a:cs typeface="Poppins"/>
                <a:sym typeface="Poppins"/>
              </a:rPr>
              <a:t>Comunicación constante y colaborativa</a:t>
            </a:r>
            <a:endParaRPr sz="775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39"/>
          <p:cNvSpPr txBox="1"/>
          <p:nvPr>
            <p:ph idx="4294967295" type="title"/>
          </p:nvPr>
        </p:nvSpPr>
        <p:spPr>
          <a:xfrm>
            <a:off x="1563375" y="694275"/>
            <a:ext cx="554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OBSTÁCULOS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94" name="Google Shape;694;p39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39"/>
          <p:cNvSpPr txBox="1"/>
          <p:nvPr/>
        </p:nvSpPr>
        <p:spPr>
          <a:xfrm>
            <a:off x="1607350" y="1210400"/>
            <a:ext cx="380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Presentados durante el desarrollo</a:t>
            </a:r>
            <a:endParaRPr sz="1900"/>
          </a:p>
        </p:txBody>
      </p:sp>
      <p:sp>
        <p:nvSpPr>
          <p:cNvPr id="696" name="Google Shape;696;p39"/>
          <p:cNvSpPr/>
          <p:nvPr/>
        </p:nvSpPr>
        <p:spPr>
          <a:xfrm>
            <a:off x="1205425" y="1757075"/>
            <a:ext cx="3567000" cy="2735700"/>
          </a:xfrm>
          <a:prstGeom prst="roundRect">
            <a:avLst>
              <a:gd fmla="val 11679" name="adj"/>
            </a:avLst>
          </a:prstGeom>
          <a:solidFill>
            <a:srgbClr val="F97315"/>
          </a:solidFill>
          <a:ln>
            <a:noFill/>
          </a:ln>
          <a:effectLst>
            <a:outerShdw blurRad="46402" rotWithShape="0" algn="bl" dir="5400000" dist="15467">
              <a:srgbClr val="000000">
                <a:alpha val="23000"/>
              </a:srgbClr>
            </a:outerShdw>
          </a:effectLst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97" name="Google Shape;697;p39"/>
          <p:cNvSpPr/>
          <p:nvPr/>
        </p:nvSpPr>
        <p:spPr>
          <a:xfrm>
            <a:off x="1205431" y="1757075"/>
            <a:ext cx="3567000" cy="26853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698" name="Google Shape;698;p39"/>
          <p:cNvSpPr txBox="1"/>
          <p:nvPr/>
        </p:nvSpPr>
        <p:spPr>
          <a:xfrm>
            <a:off x="1205700" y="1842025"/>
            <a:ext cx="35670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973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Operacional</a:t>
            </a:r>
            <a:endParaRPr sz="1500">
              <a:solidFill>
                <a:srgbClr val="F9731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99" name="Google Shape;699;p39"/>
          <p:cNvSpPr txBox="1"/>
          <p:nvPr/>
        </p:nvSpPr>
        <p:spPr>
          <a:xfrm>
            <a:off x="1234250" y="2354900"/>
            <a:ext cx="3454500" cy="20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➔"/>
            </a:pPr>
            <a:r>
              <a:rPr lang="en" sz="9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Integración de APIs de IA</a:t>
            </a: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Documentación exhaustiva y pruebas iterativas.</a:t>
            </a:r>
            <a:endParaRPr sz="900">
              <a:solidFill>
                <a:schemeClr val="dk1"/>
              </a:solidFill>
              <a:highlight>
                <a:srgbClr val="FFE100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➔"/>
            </a:pPr>
            <a:r>
              <a:rPr lang="en" sz="9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Optimización de costos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Implementación de caché y prompts optimizados.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➔"/>
            </a:pPr>
            <a:r>
              <a:rPr lang="en" sz="9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Reconocimiento de voz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Configuración óptima Azure Speech Service.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➔"/>
            </a:pPr>
            <a:r>
              <a:rPr lang="en" sz="9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Despliegue en Android</a:t>
            </a:r>
            <a:br>
              <a:rPr lang="en" sz="9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</a:b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Permisos, compatibilidad de versiones y pruebas en dispositivos reales.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0" name="Google Shape;700;p39"/>
          <p:cNvSpPr/>
          <p:nvPr/>
        </p:nvSpPr>
        <p:spPr>
          <a:xfrm>
            <a:off x="5088350" y="1757075"/>
            <a:ext cx="2669400" cy="2735700"/>
          </a:xfrm>
          <a:prstGeom prst="roundRect">
            <a:avLst>
              <a:gd fmla="val 11679" name="adj"/>
            </a:avLst>
          </a:prstGeom>
          <a:solidFill>
            <a:srgbClr val="F97315"/>
          </a:solidFill>
          <a:ln>
            <a:noFill/>
          </a:ln>
          <a:effectLst>
            <a:outerShdw blurRad="46402" rotWithShape="0" algn="bl" dir="5400000" dist="15467">
              <a:srgbClr val="000000">
                <a:alpha val="23000"/>
              </a:srgbClr>
            </a:outerShdw>
          </a:effectLst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701" name="Google Shape;701;p39"/>
          <p:cNvSpPr/>
          <p:nvPr/>
        </p:nvSpPr>
        <p:spPr>
          <a:xfrm>
            <a:off x="5088355" y="1757075"/>
            <a:ext cx="2669400" cy="26853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702" name="Google Shape;702;p39"/>
          <p:cNvSpPr txBox="1"/>
          <p:nvPr/>
        </p:nvSpPr>
        <p:spPr>
          <a:xfrm>
            <a:off x="5088325" y="1842025"/>
            <a:ext cx="26694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973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Desafíos Organizacionales</a:t>
            </a:r>
            <a:endParaRPr sz="1500">
              <a:solidFill>
                <a:srgbClr val="F9731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03" name="Google Shape;703;p39"/>
          <p:cNvSpPr txBox="1"/>
          <p:nvPr/>
        </p:nvSpPr>
        <p:spPr>
          <a:xfrm>
            <a:off x="5109925" y="2543250"/>
            <a:ext cx="2626200" cy="18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➔"/>
            </a:pPr>
            <a:r>
              <a:rPr lang="en" sz="9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Coordinación de horarios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Daily meetings flexibles y comunicación asíncrona</a:t>
            </a:r>
            <a:endParaRPr sz="900">
              <a:solidFill>
                <a:schemeClr val="dk1"/>
              </a:solidFill>
              <a:highlight>
                <a:srgbClr val="FFE100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➔"/>
            </a:pPr>
            <a:r>
              <a:rPr lang="en" sz="9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Carga académica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Planificación realista en sprints</a:t>
            </a:r>
            <a:endParaRPr sz="900">
              <a:solidFill>
                <a:schemeClr val="dk1"/>
              </a:solidFill>
              <a:highlight>
                <a:srgbClr val="FFE100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➔"/>
            </a:pPr>
            <a:r>
              <a:rPr lang="en" sz="9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Curva de aprendizaje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Pair programming y documentación compartida</a:t>
            </a:r>
            <a:endParaRPr sz="900">
              <a:solidFill>
                <a:schemeClr val="dk1"/>
              </a:solidFill>
              <a:highlight>
                <a:srgbClr val="FFE100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40"/>
          <p:cNvSpPr txBox="1"/>
          <p:nvPr>
            <p:ph idx="4294967295" type="title"/>
          </p:nvPr>
        </p:nvSpPr>
        <p:spPr>
          <a:xfrm>
            <a:off x="1563375" y="694275"/>
            <a:ext cx="554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APRENDIZAJES CLAVE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09" name="Google Shape;709;p40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638725"/>
            <a:ext cx="808860" cy="631201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40"/>
          <p:cNvSpPr/>
          <p:nvPr/>
        </p:nvSpPr>
        <p:spPr>
          <a:xfrm>
            <a:off x="1597300" y="1667775"/>
            <a:ext cx="6204000" cy="2490600"/>
          </a:xfrm>
          <a:prstGeom prst="roundRect">
            <a:avLst>
              <a:gd fmla="val 11679" name="adj"/>
            </a:avLst>
          </a:prstGeom>
          <a:solidFill>
            <a:srgbClr val="F97315"/>
          </a:solidFill>
          <a:ln>
            <a:noFill/>
          </a:ln>
          <a:effectLst>
            <a:outerShdw blurRad="46402" rotWithShape="0" algn="bl" dir="5400000" dist="15467">
              <a:srgbClr val="000000">
                <a:alpha val="23000"/>
              </a:srgbClr>
            </a:outerShdw>
          </a:effectLst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711" name="Google Shape;711;p40"/>
          <p:cNvSpPr/>
          <p:nvPr/>
        </p:nvSpPr>
        <p:spPr>
          <a:xfrm>
            <a:off x="1597300" y="1659838"/>
            <a:ext cx="6204000" cy="2424600"/>
          </a:xfrm>
          <a:prstGeom prst="roundRect">
            <a:avLst>
              <a:gd fmla="val 1167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6">
              <a:solidFill>
                <a:schemeClr val="dk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712" name="Google Shape;712;p40"/>
          <p:cNvSpPr txBox="1"/>
          <p:nvPr/>
        </p:nvSpPr>
        <p:spPr>
          <a:xfrm>
            <a:off x="2021725" y="1934804"/>
            <a:ext cx="5519100" cy="20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➔"/>
            </a:pPr>
            <a:r>
              <a:rPr lang="en" sz="12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Comunicación constante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como factor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crítico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éxito</a:t>
            </a:r>
            <a:b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➔"/>
            </a:pPr>
            <a:r>
              <a:rPr lang="en" sz="12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Priorización de </a:t>
            </a:r>
            <a:r>
              <a:rPr b="1" lang="en" sz="12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MVP</a:t>
            </a:r>
            <a:r>
              <a:rPr lang="en" sz="12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 funcional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sobre funcionalidades complejas</a:t>
            </a:r>
            <a:br>
              <a:rPr lang="en" sz="1200">
                <a:latin typeface="Poppins"/>
                <a:ea typeface="Poppins"/>
                <a:cs typeface="Poppins"/>
                <a:sym typeface="Poppins"/>
              </a:rPr>
            </a:b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➔"/>
            </a:pPr>
            <a:r>
              <a:rPr lang="en" sz="12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Adaptación de </a:t>
            </a:r>
            <a:r>
              <a:rPr b="1" lang="en" sz="12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Scrum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al contexto académico</a:t>
            </a:r>
            <a:br>
              <a:rPr lang="en" sz="1200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➔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</a:t>
            </a:r>
            <a:r>
              <a:rPr lang="en" sz="1200">
                <a:solidFill>
                  <a:schemeClr val="dk1"/>
                </a:solidFill>
                <a:highlight>
                  <a:srgbClr val="FFE100"/>
                </a:highlight>
                <a:latin typeface="Poppins"/>
                <a:ea typeface="Poppins"/>
                <a:cs typeface="Poppins"/>
                <a:sym typeface="Poppins"/>
              </a:rPr>
              <a:t>trabajo colaborativo 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resultó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más desafiante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lo esperado, poniendo de manifiesto la importancia de mejorar la coordinación y la comunicación dentro del equipo.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41"/>
          <p:cNvSpPr txBox="1"/>
          <p:nvPr/>
        </p:nvSpPr>
        <p:spPr>
          <a:xfrm>
            <a:off x="4526400" y="1243963"/>
            <a:ext cx="3295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41"/>
          <p:cNvSpPr txBox="1"/>
          <p:nvPr/>
        </p:nvSpPr>
        <p:spPr>
          <a:xfrm>
            <a:off x="2126700" y="2134925"/>
            <a:ext cx="503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¿PREGUNTAS?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42"/>
          <p:cNvSpPr txBox="1"/>
          <p:nvPr/>
        </p:nvSpPr>
        <p:spPr>
          <a:xfrm>
            <a:off x="4526400" y="1243963"/>
            <a:ext cx="3295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42"/>
          <p:cNvSpPr txBox="1"/>
          <p:nvPr/>
        </p:nvSpPr>
        <p:spPr>
          <a:xfrm>
            <a:off x="2126700" y="2134925"/>
            <a:ext cx="503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GRACIAS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-commerce Pitch Deck by Slidesgo">
  <a:themeElements>
    <a:clrScheme name="Simple Light">
      <a:dk1>
        <a:srgbClr val="191919"/>
      </a:dk1>
      <a:lt1>
        <a:srgbClr val="F3F3F3"/>
      </a:lt1>
      <a:dk2>
        <a:srgbClr val="FFFFFF"/>
      </a:dk2>
      <a:lt2>
        <a:srgbClr val="2F2FF4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