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PT Sans"/>
      <p:regular r:id="rId37"/>
      <p:bold r:id="rId38"/>
      <p:italic r:id="rId39"/>
      <p:boldItalic r:id="rId40"/>
    </p:embeddedFont>
    <p:embeddedFont>
      <p:font typeface="Poppins ExtraBold"/>
      <p:bold r:id="rId41"/>
      <p:boldItalic r:id="rId42"/>
    </p:embeddedFont>
    <p:embeddedFont>
      <p:font typeface="Anybody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6.xml"/><Relationship Id="rId42" Type="http://schemas.openxmlformats.org/officeDocument/2006/relationships/font" Target="fonts/PoppinsExtraBold-boldItalic.fntdata"/><Relationship Id="rId41" Type="http://schemas.openxmlformats.org/officeDocument/2006/relationships/font" Target="fonts/PoppinsExtraBold-bold.fntdata"/><Relationship Id="rId22" Type="http://schemas.openxmlformats.org/officeDocument/2006/relationships/slide" Target="slides/slide18.xml"/><Relationship Id="rId44" Type="http://schemas.openxmlformats.org/officeDocument/2006/relationships/font" Target="fonts/Anybody-bold.fntdata"/><Relationship Id="rId21" Type="http://schemas.openxmlformats.org/officeDocument/2006/relationships/slide" Target="slides/slide17.xml"/><Relationship Id="rId43" Type="http://schemas.openxmlformats.org/officeDocument/2006/relationships/font" Target="fonts/Anybody-regular.fntdata"/><Relationship Id="rId24" Type="http://schemas.openxmlformats.org/officeDocument/2006/relationships/slide" Target="slides/slide20.xml"/><Relationship Id="rId46" Type="http://schemas.openxmlformats.org/officeDocument/2006/relationships/font" Target="fonts/Anybody-boldItalic.fntdata"/><Relationship Id="rId23" Type="http://schemas.openxmlformats.org/officeDocument/2006/relationships/slide" Target="slides/slide19.xml"/><Relationship Id="rId45" Type="http://schemas.openxmlformats.org/officeDocument/2006/relationships/font" Target="fonts/Anybody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11.xml"/><Relationship Id="rId37" Type="http://schemas.openxmlformats.org/officeDocument/2006/relationships/font" Target="fonts/PTSans-regular.fntdata"/><Relationship Id="rId14" Type="http://schemas.openxmlformats.org/officeDocument/2006/relationships/slide" Target="slides/slide10.xml"/><Relationship Id="rId36" Type="http://schemas.openxmlformats.org/officeDocument/2006/relationships/font" Target="fonts/PoppinsSemiBold-boldItalic.fntdata"/><Relationship Id="rId17" Type="http://schemas.openxmlformats.org/officeDocument/2006/relationships/slide" Target="slides/slide13.xml"/><Relationship Id="rId39" Type="http://schemas.openxmlformats.org/officeDocument/2006/relationships/font" Target="fonts/PTSans-italic.fntdata"/><Relationship Id="rId16" Type="http://schemas.openxmlformats.org/officeDocument/2006/relationships/slide" Target="slides/slide12.xml"/><Relationship Id="rId38" Type="http://schemas.openxmlformats.org/officeDocument/2006/relationships/font" Target="fonts/P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8bb9d625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78bb9d625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59e70689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59e70689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59e70689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59e7068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59e70689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59e70689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59e70689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59e70689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59e70689f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59e7068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913f463b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913f463b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913f463b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913f463b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913f463be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913f463b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59e70689f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59e70689f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59e70689f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59e70689f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59e70689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59e70689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59e70689f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a59e70689f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59e70689f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59e70689f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59e70689f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a59e70689f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59e70689f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a59e70689f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5bcbd82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5bcbd82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59e70689f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a59e70689f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094225" y="1566938"/>
            <a:ext cx="45288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94225" y="3148763"/>
            <a:ext cx="4528800" cy="42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405325"/>
            <a:ext cx="7704000" cy="21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2" name="Google Shape;22;p4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3" name="Google Shape;23;p4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4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4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" name="Google Shape;26;p4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7" name="Google Shape;27;p4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" name="Google Shape;28;p4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9" name="Google Shape;29;p4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" name="Google Shape;31;p4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" name="Google Shape;32;p4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" name="Google Shape;34;p4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5" name="Google Shape;35;p4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" name="Google Shape;36;p4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" name="Google Shape;37;p4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" name="Google Shape;39;p4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8" name="Google Shape;48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9" name="Google Shape;49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2" name="Google Shape;52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" name="Google Shape;54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55" name="Google Shape;55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" name="Google Shape;56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" name="Google Shape;57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" name="Google Shape;58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59" name="Google Shape;59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" name="Google Shape;60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61" name="Google Shape;61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" name="Google Shape;62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" name="Google Shape;63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" name="Google Shape;64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 rot="3182898">
            <a:off x="-1789955" y="3811828"/>
            <a:ext cx="3362103" cy="2114342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811975" y="1627825"/>
            <a:ext cx="4575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634025" y="1064975"/>
            <a:ext cx="2858400" cy="31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73" name="Google Shape;73;p7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74" name="Google Shape;74;p7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75" name="Google Shape;75;p7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7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8" name="Google Shape;78;p7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79" name="Google Shape;79;p7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0" name="Google Shape;80;p7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81" name="Google Shape;81;p7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" name="Google Shape;82;p7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" name="Google Shape;83;p7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4" name="Google Shape;84;p7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85" name="Google Shape;85;p7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" name="Google Shape;86;p7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87" name="Google Shape;87;p7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" name="Google Shape;88;p7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7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7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7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2" name="Google Shape;92;p7"/>
          <p:cNvSpPr txBox="1"/>
          <p:nvPr>
            <p:ph type="title"/>
          </p:nvPr>
        </p:nvSpPr>
        <p:spPr>
          <a:xfrm>
            <a:off x="720000" y="762125"/>
            <a:ext cx="45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7" name="Google Shape;97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98" name="Google Shape;98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99" name="Google Shape;99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03" name="Google Shape;103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4" name="Google Shape;104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8" name="Google Shape;108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09" name="Google Shape;109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0" name="Google Shape;110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11" name="Google Shape;111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" name="Google Shape;112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21" name="Google Shape;121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22" name="Google Shape;122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23" name="Google Shape;123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" name="Google Shape;126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27" name="Google Shape;127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8" name="Google Shape;128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29" name="Google Shape;129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2" name="Google Shape;132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33" name="Google Shape;133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" name="Google Shape;134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35" name="Google Shape;135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 txBox="1"/>
          <p:nvPr>
            <p:ph hasCustomPrompt="1" type="title"/>
          </p:nvPr>
        </p:nvSpPr>
        <p:spPr>
          <a:xfrm>
            <a:off x="1284000" y="1692175"/>
            <a:ext cx="6576000" cy="9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1284000" y="2681575"/>
            <a:ext cx="6576000" cy="429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6" name="Google Shape;146;p1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47" name="Google Shape;147;p1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48" name="Google Shape;148;p1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1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1" name="Google Shape;151;p1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3" name="Google Shape;153;p1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54" name="Google Shape;154;p1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7" name="Google Shape;157;p1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58" name="Google Shape;158;p1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9" name="Google Shape;159;p1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0" name="Google Shape;160;p1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" name="Google Shape;161;p1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1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" name="Google Shape;163;p1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1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 rot="606218">
            <a:off x="316691" y="4397046"/>
            <a:ext cx="3362038" cy="211446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 txBox="1"/>
          <p:nvPr>
            <p:ph hasCustomPrompt="1" type="title"/>
          </p:nvPr>
        </p:nvSpPr>
        <p:spPr>
          <a:xfrm>
            <a:off x="720000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2" type="title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3" type="title"/>
          </p:nvPr>
        </p:nvSpPr>
        <p:spPr>
          <a:xfrm>
            <a:off x="3419275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4" type="title"/>
          </p:nvPr>
        </p:nvSpPr>
        <p:spPr>
          <a:xfrm>
            <a:off x="3419275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5" type="title"/>
          </p:nvPr>
        </p:nvSpPr>
        <p:spPr>
          <a:xfrm>
            <a:off x="6118550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hasCustomPrompt="1" idx="6" type="title"/>
          </p:nvPr>
        </p:nvSpPr>
        <p:spPr>
          <a:xfrm>
            <a:off x="6118550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/>
          <p:nvPr>
            <p:ph idx="1" type="subTitle"/>
          </p:nvPr>
        </p:nvSpPr>
        <p:spPr>
          <a:xfrm>
            <a:off x="720000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6" name="Google Shape;176;p13"/>
          <p:cNvSpPr txBox="1"/>
          <p:nvPr>
            <p:ph idx="7" type="subTitle"/>
          </p:nvPr>
        </p:nvSpPr>
        <p:spPr>
          <a:xfrm>
            <a:off x="3419275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7" name="Google Shape;177;p13"/>
          <p:cNvSpPr txBox="1"/>
          <p:nvPr>
            <p:ph idx="8" type="subTitle"/>
          </p:nvPr>
        </p:nvSpPr>
        <p:spPr>
          <a:xfrm>
            <a:off x="6118550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8" name="Google Shape;178;p13"/>
          <p:cNvSpPr txBox="1"/>
          <p:nvPr>
            <p:ph idx="9" type="subTitle"/>
          </p:nvPr>
        </p:nvSpPr>
        <p:spPr>
          <a:xfrm>
            <a:off x="72000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9" name="Google Shape;179;p13"/>
          <p:cNvSpPr txBox="1"/>
          <p:nvPr>
            <p:ph idx="13" type="subTitle"/>
          </p:nvPr>
        </p:nvSpPr>
        <p:spPr>
          <a:xfrm>
            <a:off x="34192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0" name="Google Shape;180;p13"/>
          <p:cNvSpPr txBox="1"/>
          <p:nvPr>
            <p:ph idx="14" type="subTitle"/>
          </p:nvPr>
        </p:nvSpPr>
        <p:spPr>
          <a:xfrm>
            <a:off x="61185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13"/>
          <p:cNvSpPr txBox="1"/>
          <p:nvPr>
            <p:ph idx="15"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" name="Google Shape;182;p1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3" name="Google Shape;183;p1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4" name="Google Shape;184;p1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7" name="Google Shape;187;p1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8" name="Google Shape;188;p1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9" name="Google Shape;189;p1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90" name="Google Shape;190;p1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1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1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3" name="Google Shape;193;p1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5" name="Google Shape;195;p1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6" name="Google Shape;196;p1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1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1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1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F97315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3B82F6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 txBox="1"/>
          <p:nvPr>
            <p:ph idx="1" type="subTitle"/>
          </p:nvPr>
        </p:nvSpPr>
        <p:spPr>
          <a:xfrm>
            <a:off x="937625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16"/>
          <p:cNvSpPr txBox="1"/>
          <p:nvPr>
            <p:ph idx="2" type="subTitle"/>
          </p:nvPr>
        </p:nvSpPr>
        <p:spPr>
          <a:xfrm>
            <a:off x="3484347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6"/>
          <p:cNvSpPr txBox="1"/>
          <p:nvPr>
            <p:ph idx="3" type="subTitle"/>
          </p:nvPr>
        </p:nvSpPr>
        <p:spPr>
          <a:xfrm>
            <a:off x="6031075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6"/>
          <p:cNvSpPr txBox="1"/>
          <p:nvPr>
            <p:ph idx="4" type="subTitle"/>
          </p:nvPr>
        </p:nvSpPr>
        <p:spPr>
          <a:xfrm>
            <a:off x="937625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4" name="Google Shape;214;p16"/>
          <p:cNvSpPr txBox="1"/>
          <p:nvPr>
            <p:ph idx="5" type="subTitle"/>
          </p:nvPr>
        </p:nvSpPr>
        <p:spPr>
          <a:xfrm>
            <a:off x="3484350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16"/>
          <p:cNvSpPr txBox="1"/>
          <p:nvPr>
            <p:ph idx="6" type="subTitle"/>
          </p:nvPr>
        </p:nvSpPr>
        <p:spPr>
          <a:xfrm>
            <a:off x="6031075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 rot="5562018">
            <a:off x="7833586" y="1245380"/>
            <a:ext cx="3362233" cy="2114347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>
            <p:ph idx="1" type="subTitle"/>
          </p:nvPr>
        </p:nvSpPr>
        <p:spPr>
          <a:xfrm>
            <a:off x="720000" y="1958762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2" type="subTitle"/>
          </p:nvPr>
        </p:nvSpPr>
        <p:spPr>
          <a:xfrm>
            <a:off x="4606805" y="1958762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3" type="subTitle"/>
          </p:nvPr>
        </p:nvSpPr>
        <p:spPr>
          <a:xfrm>
            <a:off x="720000" y="3336700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4" type="subTitle"/>
          </p:nvPr>
        </p:nvSpPr>
        <p:spPr>
          <a:xfrm>
            <a:off x="4606805" y="3336700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4" name="Google Shape;224;p17"/>
          <p:cNvSpPr txBox="1"/>
          <p:nvPr>
            <p:ph idx="5" type="subTitle"/>
          </p:nvPr>
        </p:nvSpPr>
        <p:spPr>
          <a:xfrm>
            <a:off x="720000" y="1510387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5" name="Google Shape;225;p17"/>
          <p:cNvSpPr txBox="1"/>
          <p:nvPr>
            <p:ph idx="6" type="subTitle"/>
          </p:nvPr>
        </p:nvSpPr>
        <p:spPr>
          <a:xfrm>
            <a:off x="720000" y="2888325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6" name="Google Shape;226;p17"/>
          <p:cNvSpPr txBox="1"/>
          <p:nvPr>
            <p:ph idx="7" type="subTitle"/>
          </p:nvPr>
        </p:nvSpPr>
        <p:spPr>
          <a:xfrm>
            <a:off x="4606768" y="1510387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7" name="Google Shape;227;p17"/>
          <p:cNvSpPr txBox="1"/>
          <p:nvPr>
            <p:ph idx="8" type="subTitle"/>
          </p:nvPr>
        </p:nvSpPr>
        <p:spPr>
          <a:xfrm>
            <a:off x="4606768" y="2888325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8" name="Google Shape;228;p17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9" name="Google Shape;229;p17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30" name="Google Shape;230;p17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31" name="Google Shape;231;p17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7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7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4" name="Google Shape;234;p17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6" name="Google Shape;236;p17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37" name="Google Shape;237;p17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17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17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0" name="Google Shape;240;p17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41" name="Google Shape;241;p17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2" name="Google Shape;242;p17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43" name="Google Shape;243;p17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17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17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17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17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 rot="3318019">
            <a:off x="-2389681" y="3047167"/>
            <a:ext cx="3362172" cy="211440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 txBox="1"/>
          <p:nvPr>
            <p:ph idx="1" type="subTitle"/>
          </p:nvPr>
        </p:nvSpPr>
        <p:spPr>
          <a:xfrm>
            <a:off x="714525" y="1851931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idx="2" type="subTitle"/>
          </p:nvPr>
        </p:nvSpPr>
        <p:spPr>
          <a:xfrm>
            <a:off x="3284865" y="1851940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8"/>
          <p:cNvSpPr txBox="1"/>
          <p:nvPr>
            <p:ph idx="3" type="subTitle"/>
          </p:nvPr>
        </p:nvSpPr>
        <p:spPr>
          <a:xfrm>
            <a:off x="713925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18"/>
          <p:cNvSpPr txBox="1"/>
          <p:nvPr>
            <p:ph idx="4" type="subTitle"/>
          </p:nvPr>
        </p:nvSpPr>
        <p:spPr>
          <a:xfrm>
            <a:off x="3284261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8"/>
          <p:cNvSpPr txBox="1"/>
          <p:nvPr>
            <p:ph idx="5" type="subTitle"/>
          </p:nvPr>
        </p:nvSpPr>
        <p:spPr>
          <a:xfrm>
            <a:off x="5855198" y="1851940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8"/>
          <p:cNvSpPr txBox="1"/>
          <p:nvPr>
            <p:ph idx="6" type="subTitle"/>
          </p:nvPr>
        </p:nvSpPr>
        <p:spPr>
          <a:xfrm>
            <a:off x="5854598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7" type="subTitle"/>
          </p:nvPr>
        </p:nvSpPr>
        <p:spPr>
          <a:xfrm>
            <a:off x="714525" y="1434682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58" name="Google Shape;258;p18"/>
          <p:cNvSpPr txBox="1"/>
          <p:nvPr>
            <p:ph idx="8" type="subTitle"/>
          </p:nvPr>
        </p:nvSpPr>
        <p:spPr>
          <a:xfrm>
            <a:off x="3284713" y="1434688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59" name="Google Shape;259;p18"/>
          <p:cNvSpPr txBox="1"/>
          <p:nvPr>
            <p:ph idx="9" type="subTitle"/>
          </p:nvPr>
        </p:nvSpPr>
        <p:spPr>
          <a:xfrm>
            <a:off x="5860277" y="1434688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0" name="Google Shape;260;p18"/>
          <p:cNvSpPr txBox="1"/>
          <p:nvPr>
            <p:ph idx="13" type="subTitle"/>
          </p:nvPr>
        </p:nvSpPr>
        <p:spPr>
          <a:xfrm>
            <a:off x="713925" y="2957131"/>
            <a:ext cx="25701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1" name="Google Shape;261;p18"/>
          <p:cNvSpPr txBox="1"/>
          <p:nvPr>
            <p:ph idx="14" type="subTitle"/>
          </p:nvPr>
        </p:nvSpPr>
        <p:spPr>
          <a:xfrm>
            <a:off x="3284113" y="2957131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2" name="Google Shape;262;p18"/>
          <p:cNvSpPr txBox="1"/>
          <p:nvPr>
            <p:ph idx="15" type="subTitle"/>
          </p:nvPr>
        </p:nvSpPr>
        <p:spPr>
          <a:xfrm>
            <a:off x="5859677" y="2957131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3" name="Google Shape;263;p18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4" name="Google Shape;264;p1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65" name="Google Shape;265;p1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66" name="Google Shape;266;p1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1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9" name="Google Shape;269;p1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1" name="Google Shape;271;p1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72" name="Google Shape;272;p1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1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1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5" name="Google Shape;275;p1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76" name="Google Shape;276;p1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7" name="Google Shape;277;p1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78" name="Google Shape;278;p1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1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1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1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1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 rot="-3265141">
            <a:off x="-2686040" y="1470719"/>
            <a:ext cx="4291806" cy="269948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 txBox="1"/>
          <p:nvPr>
            <p:ph hasCustomPrompt="1" type="title"/>
          </p:nvPr>
        </p:nvSpPr>
        <p:spPr>
          <a:xfrm>
            <a:off x="978809" y="26871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7" name="Google Shape;287;p19"/>
          <p:cNvSpPr txBox="1"/>
          <p:nvPr>
            <p:ph idx="1" type="subTitle"/>
          </p:nvPr>
        </p:nvSpPr>
        <p:spPr>
          <a:xfrm>
            <a:off x="978816" y="3309421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8" name="Google Shape;288;p19"/>
          <p:cNvSpPr txBox="1"/>
          <p:nvPr>
            <p:ph hasCustomPrompt="1" idx="2" type="title"/>
          </p:nvPr>
        </p:nvSpPr>
        <p:spPr>
          <a:xfrm>
            <a:off x="2825700" y="126938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19"/>
          <p:cNvSpPr txBox="1"/>
          <p:nvPr>
            <p:ph idx="3" type="subTitle"/>
          </p:nvPr>
        </p:nvSpPr>
        <p:spPr>
          <a:xfrm>
            <a:off x="2825700" y="1891924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hasCustomPrompt="1" idx="4" type="title"/>
          </p:nvPr>
        </p:nvSpPr>
        <p:spPr>
          <a:xfrm>
            <a:off x="4672578" y="26871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1" name="Google Shape;291;p19"/>
          <p:cNvSpPr txBox="1"/>
          <p:nvPr>
            <p:ph idx="5" type="subTitle"/>
          </p:nvPr>
        </p:nvSpPr>
        <p:spPr>
          <a:xfrm>
            <a:off x="4672591" y="3309421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92" name="Google Shape;292;p1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93" name="Google Shape;293;p1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94" name="Google Shape;294;p1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1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1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7" name="Google Shape;297;p1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9" name="Google Shape;299;p1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00" name="Google Shape;300;p1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1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03" name="Google Shape;303;p1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04" name="Google Shape;304;p1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5" name="Google Shape;305;p1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06" name="Google Shape;306;p1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1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1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1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1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/>
        </p:nvSpPr>
        <p:spPr>
          <a:xfrm>
            <a:off x="1947600" y="2926150"/>
            <a:ext cx="5248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Anybody"/>
                <a:ea typeface="Anybody"/>
                <a:cs typeface="Anybody"/>
                <a:sym typeface="Anybod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b="1" sz="1200" u="sng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grpSp>
        <p:nvGrpSpPr>
          <p:cNvPr id="316" name="Google Shape;316;p20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17" name="Google Shape;317;p20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18" name="Google Shape;318;p20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20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21" name="Google Shape;321;p20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22" name="Google Shape;322;p20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3" name="Google Shape;323;p20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24" name="Google Shape;324;p20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20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20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7" name="Google Shape;327;p20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28" name="Google Shape;328;p20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9" name="Google Shape;329;p20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30" name="Google Shape;330;p20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20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20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20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0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39" name="Google Shape;339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40" name="Google Shape;340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3" name="Google Shape;343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44" name="Google Shape;344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5" name="Google Shape;345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46" name="Google Shape;346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9" name="Google Shape;349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50" name="Google Shape;350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1" name="Google Shape;351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52" name="Google Shape;352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" name="Google Shape;353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" name="Google Shape;355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 rot="-3396324">
            <a:off x="6499386" y="2974595"/>
            <a:ext cx="4291772" cy="2699372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2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1" name="Google Shape;361;p2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62" name="Google Shape;362;p2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2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2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5" name="Google Shape;365;p2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7" name="Google Shape;367;p2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68" name="Google Shape;368;p2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2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2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71" name="Google Shape;371;p2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3" name="Google Shape;373;p2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74" name="Google Shape;374;p2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2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2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2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" name="Google Shape;378;p2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www.latercera.com/noticia/universidades-toman-medidas-para-enfrentar-alto-indice-de-reprobacion-en-el-examen-de-grado-de-derecho/" TargetMode="External"/><Relationship Id="rId5" Type="http://schemas.openxmlformats.org/officeDocument/2006/relationships/hyperlink" Target="https://www.elmercurio.com/legal/movil/detalle.aspx?Id=907118&amp;Path=%2F0D%2FD7%2F" TargetMode="External"/><Relationship Id="rId6" Type="http://schemas.openxmlformats.org/officeDocument/2006/relationships/hyperlink" Target="https://pedagogiaderecho.uchile.cl/index.php/RPUD/article/download/61592/67539/230978" TargetMode="External"/><Relationship Id="rId7" Type="http://schemas.openxmlformats.org/officeDocument/2006/relationships/hyperlink" Target="https://www.litoralpress.cl/SimbiuPDF/2025/07/05/6016023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22" Type="http://schemas.openxmlformats.org/officeDocument/2006/relationships/image" Target="../media/image19.png"/><Relationship Id="rId21" Type="http://schemas.openxmlformats.org/officeDocument/2006/relationships/image" Target="../media/image27.png"/><Relationship Id="rId24" Type="http://schemas.openxmlformats.org/officeDocument/2006/relationships/image" Target="../media/image22.jp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26" Type="http://schemas.openxmlformats.org/officeDocument/2006/relationships/image" Target="../media/image17.png"/><Relationship Id="rId25" Type="http://schemas.openxmlformats.org/officeDocument/2006/relationships/image" Target="../media/image23.png"/><Relationship Id="rId27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16.png"/><Relationship Id="rId11" Type="http://schemas.openxmlformats.org/officeDocument/2006/relationships/image" Target="../media/image7.png"/><Relationship Id="rId10" Type="http://schemas.openxmlformats.org/officeDocument/2006/relationships/image" Target="../media/image13.png"/><Relationship Id="rId13" Type="http://schemas.openxmlformats.org/officeDocument/2006/relationships/image" Target="../media/image20.png"/><Relationship Id="rId12" Type="http://schemas.openxmlformats.org/officeDocument/2006/relationships/image" Target="../media/image11.png"/><Relationship Id="rId15" Type="http://schemas.openxmlformats.org/officeDocument/2006/relationships/image" Target="../media/image5.png"/><Relationship Id="rId14" Type="http://schemas.openxmlformats.org/officeDocument/2006/relationships/image" Target="../media/image4.png"/><Relationship Id="rId17" Type="http://schemas.openxmlformats.org/officeDocument/2006/relationships/image" Target="../media/image2.png"/><Relationship Id="rId16" Type="http://schemas.openxmlformats.org/officeDocument/2006/relationships/image" Target="../media/image10.png"/><Relationship Id="rId19" Type="http://schemas.openxmlformats.org/officeDocument/2006/relationships/image" Target="../media/image30.png"/><Relationship Id="rId18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"/>
          <p:cNvSpPr txBox="1"/>
          <p:nvPr>
            <p:ph type="ctrTitle"/>
          </p:nvPr>
        </p:nvSpPr>
        <p:spPr>
          <a:xfrm>
            <a:off x="3627350" y="1325125"/>
            <a:ext cx="3788700" cy="173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latin typeface="Poppins"/>
                <a:ea typeface="Poppins"/>
                <a:cs typeface="Poppins"/>
                <a:sym typeface="Poppins"/>
              </a:rPr>
              <a:t>GRADO</a:t>
            </a:r>
            <a:r>
              <a:rPr lang="en" sz="59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lang="en" sz="5900">
                <a:latin typeface="Poppins"/>
                <a:ea typeface="Poppins"/>
                <a:cs typeface="Poppins"/>
                <a:sym typeface="Poppins"/>
              </a:rPr>
              <a:t>CERRADO</a:t>
            </a:r>
            <a:endParaRPr b="0" sz="5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23"/>
          <p:cNvSpPr txBox="1"/>
          <p:nvPr>
            <p:ph idx="1" type="subTitle"/>
          </p:nvPr>
        </p:nvSpPr>
        <p:spPr>
          <a:xfrm>
            <a:off x="2010800" y="3000725"/>
            <a:ext cx="5265300" cy="471600"/>
          </a:xfrm>
          <a:prstGeom prst="rect">
            <a:avLst/>
          </a:prstGeom>
          <a:solidFill>
            <a:srgbClr val="13B98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 R E S E N T A C I Ó N   F I N A L   C A P S T O N E</a:t>
            </a:r>
            <a:endParaRPr sz="9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85" name="Google Shape;385;p23"/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386" name="Google Shape;386;p23">
              <a:hlinkClick action="ppaction://hlinkshowjump?jump=nextslide"/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rect b="b" l="l" r="r" t="t"/>
              <a:pathLst>
                <a:path extrusionOk="0" h="11992" w="2361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7" name="Google Shape;387;p23">
              <a:hlinkClick action="ppaction://hlinkshowjump?jump=nextslide"/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rect b="b" l="l" r="r" t="t"/>
              <a:pathLst>
                <a:path extrusionOk="0" h="11992" w="2361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388" name="Google Shape;388;p23" title="law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950" y="1457625"/>
            <a:ext cx="1549575" cy="13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/>
          <p:nvPr>
            <p:ph type="title"/>
          </p:nvPr>
        </p:nvSpPr>
        <p:spPr>
          <a:xfrm>
            <a:off x="1563375" y="694275"/>
            <a:ext cx="359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NUESTRO EQUIPO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24"/>
          <p:cNvSpPr txBox="1"/>
          <p:nvPr>
            <p:ph idx="3" type="subTitle"/>
          </p:nvPr>
        </p:nvSpPr>
        <p:spPr>
          <a:xfrm>
            <a:off x="6030500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Scrum Master + Developer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 las ceremonias Scrum, elimina impedimentos y vela por la aplicación correcta de la metodología.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24"/>
          <p:cNvSpPr txBox="1"/>
          <p:nvPr>
            <p:ph idx="6" type="subTitle"/>
          </p:nvPr>
        </p:nvSpPr>
        <p:spPr>
          <a:xfrm>
            <a:off x="5916925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CONSTANZA FLORES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6" name="Google Shape;396;p24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4"/>
          <p:cNvSpPr/>
          <p:nvPr/>
        </p:nvSpPr>
        <p:spPr>
          <a:xfrm>
            <a:off x="6888913" y="1929504"/>
            <a:ext cx="572700" cy="572700"/>
          </a:xfrm>
          <a:prstGeom prst="ellipse">
            <a:avLst/>
          </a:prstGeom>
          <a:solidFill>
            <a:srgbClr val="13B981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6888913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CF</a:t>
            </a:r>
            <a:endParaRPr sz="2124">
              <a:solidFill>
                <a:schemeClr val="dk2"/>
              </a:solidFill>
            </a:endParaRPr>
          </a:p>
        </p:txBody>
      </p:sp>
      <p:sp>
        <p:nvSpPr>
          <p:cNvPr id="399" name="Google Shape;399;p24"/>
          <p:cNvSpPr txBox="1"/>
          <p:nvPr>
            <p:ph idx="3" type="subTitle"/>
          </p:nvPr>
        </p:nvSpPr>
        <p:spPr>
          <a:xfrm>
            <a:off x="3427225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Product Owner + Developer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 y prioriza el backlog, válida entregas y asegura que el producto cumpla la visión del proyecto.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24"/>
          <p:cNvSpPr txBox="1"/>
          <p:nvPr>
            <p:ph idx="6" type="subTitle"/>
          </p:nvPr>
        </p:nvSpPr>
        <p:spPr>
          <a:xfrm>
            <a:off x="3313650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ASTRID GONZÁLEZ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4285647" y="1929504"/>
            <a:ext cx="572700" cy="5727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4285647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AG</a:t>
            </a:r>
            <a:endParaRPr sz="2124">
              <a:solidFill>
                <a:schemeClr val="dk2"/>
              </a:solidFill>
            </a:endParaRPr>
          </a:p>
        </p:txBody>
      </p:sp>
      <p:sp>
        <p:nvSpPr>
          <p:cNvPr id="403" name="Google Shape;403;p24"/>
          <p:cNvSpPr txBox="1"/>
          <p:nvPr>
            <p:ph idx="3" type="subTitle"/>
          </p:nvPr>
        </p:nvSpPr>
        <p:spPr>
          <a:xfrm>
            <a:off x="820130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Development Manager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Lidera la arquitectura y desarrollo backend, integra la IA y asegura la calidad técnica del código.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24"/>
          <p:cNvSpPr txBox="1"/>
          <p:nvPr>
            <p:ph idx="6" type="subTitle"/>
          </p:nvPr>
        </p:nvSpPr>
        <p:spPr>
          <a:xfrm>
            <a:off x="706555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SAMIRA AWAD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1690575" y="1929504"/>
            <a:ext cx="572700" cy="572700"/>
          </a:xfrm>
          <a:prstGeom prst="ellipse">
            <a:avLst/>
          </a:prstGeom>
          <a:solidFill>
            <a:srgbClr val="F97315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1690575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SA</a:t>
            </a:r>
            <a:endParaRPr sz="2124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/>
          <p:nvPr>
            <p:ph type="title"/>
          </p:nvPr>
        </p:nvSpPr>
        <p:spPr>
          <a:xfrm>
            <a:off x="1563375" y="694275"/>
            <a:ext cx="346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DESCRIPCIÓN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2" name="Google Shape;412;p25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5"/>
          <p:cNvSpPr txBox="1"/>
          <p:nvPr>
            <p:ph idx="4294967295" type="subTitle"/>
          </p:nvPr>
        </p:nvSpPr>
        <p:spPr>
          <a:xfrm>
            <a:off x="832890" y="2007072"/>
            <a:ext cx="2103300" cy="51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Nuevos abogados se titulan </a:t>
            </a:r>
            <a:r>
              <a:rPr lang="en" sz="1000"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cada año en Chile.</a:t>
            </a:r>
            <a:endParaRPr sz="10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25"/>
          <p:cNvSpPr txBox="1"/>
          <p:nvPr>
            <p:ph idx="4294967295" type="title"/>
          </p:nvPr>
        </p:nvSpPr>
        <p:spPr>
          <a:xfrm>
            <a:off x="967600" y="2481188"/>
            <a:ext cx="1844100" cy="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≈</a:t>
            </a:r>
            <a:r>
              <a:rPr b="0" lang="en" sz="2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1 </a:t>
            </a:r>
            <a:r>
              <a:rPr b="0" lang="en" sz="18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de cada</a:t>
            </a:r>
            <a:r>
              <a:rPr b="0" lang="en" sz="24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lang="en" sz="2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 b="0" sz="2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415" name="Google Shape;415;p25"/>
          <p:cNvCxnSpPr/>
          <p:nvPr/>
        </p:nvCxnSpPr>
        <p:spPr>
          <a:xfrm>
            <a:off x="3229300" y="1732325"/>
            <a:ext cx="0" cy="28011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5"/>
          <p:cNvSpPr txBox="1"/>
          <p:nvPr>
            <p:ph idx="3" type="subTitle"/>
          </p:nvPr>
        </p:nvSpPr>
        <p:spPr>
          <a:xfrm>
            <a:off x="3315963" y="2257175"/>
            <a:ext cx="23625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PROBLEMAS IDENTIFICADOS</a:t>
            </a:r>
            <a:endParaRPr b="1" sz="16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constancia en el estudio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Dificultad para identificar puntos débiles específicos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Bancos de preguntas estáticos sin seguimiento personalizado 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Tiempos de estudio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5919425" y="1349825"/>
            <a:ext cx="2535900" cy="31836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18" name="Google Shape;418;p25"/>
          <p:cNvSpPr txBox="1"/>
          <p:nvPr>
            <p:ph idx="3" type="subTitle"/>
          </p:nvPr>
        </p:nvSpPr>
        <p:spPr>
          <a:xfrm>
            <a:off x="6006127" y="2201650"/>
            <a:ext cx="23625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 móvil que </a:t>
            </a:r>
            <a:r>
              <a:rPr i="1" lang="en" sz="1100">
                <a:solidFill>
                  <a:srgbClr val="000000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ofrece un seguimiento personalizado actuando como un tutor digital,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genera preguntas, permite responder por alternativas o voz y te entrega la corrección  y resultados.</a:t>
            </a:r>
            <a:endParaRPr i="1" sz="1100">
              <a:solidFill>
                <a:srgbClr val="000000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9" name="Google Shape;419;p25"/>
          <p:cNvGrpSpPr/>
          <p:nvPr/>
        </p:nvGrpSpPr>
        <p:grpSpPr>
          <a:xfrm>
            <a:off x="6864960" y="1570453"/>
            <a:ext cx="644831" cy="631203"/>
            <a:chOff x="5708053" y="1856630"/>
            <a:chExt cx="320317" cy="313517"/>
          </a:xfrm>
        </p:grpSpPr>
        <p:sp>
          <p:nvSpPr>
            <p:cNvPr id="420" name="Google Shape;420;p25"/>
            <p:cNvSpPr/>
            <p:nvPr/>
          </p:nvSpPr>
          <p:spPr>
            <a:xfrm>
              <a:off x="5725961" y="1856630"/>
              <a:ext cx="284472" cy="269802"/>
            </a:xfrm>
            <a:custGeom>
              <a:rect b="b" l="l" r="r" t="t"/>
              <a:pathLst>
                <a:path extrusionOk="0" h="9085" w="9579">
                  <a:moveTo>
                    <a:pt x="4791" y="563"/>
                  </a:moveTo>
                  <a:cubicBezTo>
                    <a:pt x="4818" y="563"/>
                    <a:pt x="4883" y="572"/>
                    <a:pt x="4918" y="644"/>
                  </a:cubicBezTo>
                  <a:lnTo>
                    <a:pt x="5968" y="2767"/>
                  </a:lnTo>
                  <a:cubicBezTo>
                    <a:pt x="6070" y="2976"/>
                    <a:pt x="6270" y="3122"/>
                    <a:pt x="6499" y="3155"/>
                  </a:cubicBezTo>
                  <a:lnTo>
                    <a:pt x="8843" y="3495"/>
                  </a:lnTo>
                  <a:cubicBezTo>
                    <a:pt x="8920" y="3505"/>
                    <a:pt x="8950" y="3567"/>
                    <a:pt x="8959" y="3592"/>
                  </a:cubicBezTo>
                  <a:cubicBezTo>
                    <a:pt x="8967" y="3618"/>
                    <a:pt x="8979" y="3681"/>
                    <a:pt x="8924" y="3736"/>
                  </a:cubicBezTo>
                  <a:lnTo>
                    <a:pt x="7226" y="5391"/>
                  </a:lnTo>
                  <a:cubicBezTo>
                    <a:pt x="7058" y="5553"/>
                    <a:pt x="6983" y="5788"/>
                    <a:pt x="7023" y="6015"/>
                  </a:cubicBezTo>
                  <a:lnTo>
                    <a:pt x="7423" y="8351"/>
                  </a:lnTo>
                  <a:cubicBezTo>
                    <a:pt x="7435" y="8430"/>
                    <a:pt x="7386" y="8475"/>
                    <a:pt x="7366" y="8490"/>
                  </a:cubicBezTo>
                  <a:cubicBezTo>
                    <a:pt x="7352" y="8500"/>
                    <a:pt x="7322" y="8517"/>
                    <a:pt x="7283" y="8517"/>
                  </a:cubicBezTo>
                  <a:cubicBezTo>
                    <a:pt x="7263" y="8517"/>
                    <a:pt x="7241" y="8513"/>
                    <a:pt x="7217" y="8500"/>
                  </a:cubicBezTo>
                  <a:lnTo>
                    <a:pt x="5119" y="7397"/>
                  </a:lnTo>
                  <a:cubicBezTo>
                    <a:pt x="5017" y="7343"/>
                    <a:pt x="4905" y="7315"/>
                    <a:pt x="4791" y="7315"/>
                  </a:cubicBezTo>
                  <a:cubicBezTo>
                    <a:pt x="4679" y="7315"/>
                    <a:pt x="4565" y="7343"/>
                    <a:pt x="4463" y="7397"/>
                  </a:cubicBezTo>
                  <a:lnTo>
                    <a:pt x="2365" y="8500"/>
                  </a:lnTo>
                  <a:cubicBezTo>
                    <a:pt x="2341" y="8513"/>
                    <a:pt x="2318" y="8517"/>
                    <a:pt x="2298" y="8517"/>
                  </a:cubicBezTo>
                  <a:cubicBezTo>
                    <a:pt x="2260" y="8517"/>
                    <a:pt x="2231" y="8500"/>
                    <a:pt x="2217" y="8490"/>
                  </a:cubicBezTo>
                  <a:cubicBezTo>
                    <a:pt x="2196" y="8475"/>
                    <a:pt x="2147" y="8428"/>
                    <a:pt x="2160" y="8351"/>
                  </a:cubicBezTo>
                  <a:lnTo>
                    <a:pt x="2561" y="6015"/>
                  </a:lnTo>
                  <a:cubicBezTo>
                    <a:pt x="2599" y="5786"/>
                    <a:pt x="2522" y="5553"/>
                    <a:pt x="2356" y="5391"/>
                  </a:cubicBezTo>
                  <a:lnTo>
                    <a:pt x="660" y="3736"/>
                  </a:lnTo>
                  <a:cubicBezTo>
                    <a:pt x="603" y="3683"/>
                    <a:pt x="615" y="3618"/>
                    <a:pt x="623" y="3592"/>
                  </a:cubicBezTo>
                  <a:cubicBezTo>
                    <a:pt x="632" y="3567"/>
                    <a:pt x="660" y="3505"/>
                    <a:pt x="739" y="3495"/>
                  </a:cubicBezTo>
                  <a:lnTo>
                    <a:pt x="3083" y="3155"/>
                  </a:lnTo>
                  <a:cubicBezTo>
                    <a:pt x="3314" y="3122"/>
                    <a:pt x="3512" y="2976"/>
                    <a:pt x="3615" y="2767"/>
                  </a:cubicBezTo>
                  <a:lnTo>
                    <a:pt x="4664" y="644"/>
                  </a:lnTo>
                  <a:cubicBezTo>
                    <a:pt x="4699" y="572"/>
                    <a:pt x="4764" y="563"/>
                    <a:pt x="4791" y="563"/>
                  </a:cubicBezTo>
                  <a:close/>
                  <a:moveTo>
                    <a:pt x="4789" y="1"/>
                  </a:moveTo>
                  <a:cubicBezTo>
                    <a:pt x="4520" y="1"/>
                    <a:pt x="4277" y="151"/>
                    <a:pt x="4155" y="394"/>
                  </a:cubicBezTo>
                  <a:lnTo>
                    <a:pt x="3106" y="2519"/>
                  </a:lnTo>
                  <a:cubicBezTo>
                    <a:pt x="3086" y="2561"/>
                    <a:pt x="3046" y="2589"/>
                    <a:pt x="2999" y="2596"/>
                  </a:cubicBezTo>
                  <a:lnTo>
                    <a:pt x="655" y="2938"/>
                  </a:lnTo>
                  <a:cubicBezTo>
                    <a:pt x="387" y="2976"/>
                    <a:pt x="168" y="3160"/>
                    <a:pt x="84" y="3418"/>
                  </a:cubicBezTo>
                  <a:cubicBezTo>
                    <a:pt x="0" y="3676"/>
                    <a:pt x="69" y="3954"/>
                    <a:pt x="261" y="4143"/>
                  </a:cubicBezTo>
                  <a:lnTo>
                    <a:pt x="1959" y="5796"/>
                  </a:lnTo>
                  <a:cubicBezTo>
                    <a:pt x="1993" y="5830"/>
                    <a:pt x="2008" y="5876"/>
                    <a:pt x="2000" y="5922"/>
                  </a:cubicBezTo>
                  <a:lnTo>
                    <a:pt x="1599" y="8258"/>
                  </a:lnTo>
                  <a:cubicBezTo>
                    <a:pt x="1554" y="8525"/>
                    <a:pt x="1663" y="8790"/>
                    <a:pt x="1881" y="8949"/>
                  </a:cubicBezTo>
                  <a:cubicBezTo>
                    <a:pt x="2005" y="9038"/>
                    <a:pt x="2150" y="9084"/>
                    <a:pt x="2296" y="9084"/>
                  </a:cubicBezTo>
                  <a:cubicBezTo>
                    <a:pt x="2409" y="9084"/>
                    <a:pt x="2521" y="9057"/>
                    <a:pt x="2626" y="9003"/>
                  </a:cubicBezTo>
                  <a:lnTo>
                    <a:pt x="4722" y="7899"/>
                  </a:lnTo>
                  <a:cubicBezTo>
                    <a:pt x="4743" y="7889"/>
                    <a:pt x="4766" y="7884"/>
                    <a:pt x="4788" y="7884"/>
                  </a:cubicBezTo>
                  <a:cubicBezTo>
                    <a:pt x="4811" y="7884"/>
                    <a:pt x="4834" y="7889"/>
                    <a:pt x="4855" y="7899"/>
                  </a:cubicBezTo>
                  <a:lnTo>
                    <a:pt x="6951" y="9003"/>
                  </a:lnTo>
                  <a:cubicBezTo>
                    <a:pt x="7057" y="9056"/>
                    <a:pt x="7169" y="9085"/>
                    <a:pt x="7281" y="9085"/>
                  </a:cubicBezTo>
                  <a:cubicBezTo>
                    <a:pt x="7427" y="9085"/>
                    <a:pt x="7571" y="9038"/>
                    <a:pt x="7695" y="8949"/>
                  </a:cubicBezTo>
                  <a:cubicBezTo>
                    <a:pt x="7914" y="8790"/>
                    <a:pt x="8021" y="8524"/>
                    <a:pt x="7976" y="8258"/>
                  </a:cubicBezTo>
                  <a:lnTo>
                    <a:pt x="7576" y="5922"/>
                  </a:lnTo>
                  <a:cubicBezTo>
                    <a:pt x="7567" y="5876"/>
                    <a:pt x="7584" y="5830"/>
                    <a:pt x="7616" y="5796"/>
                  </a:cubicBezTo>
                  <a:lnTo>
                    <a:pt x="9317" y="4143"/>
                  </a:lnTo>
                  <a:cubicBezTo>
                    <a:pt x="9511" y="3954"/>
                    <a:pt x="9578" y="3676"/>
                    <a:pt x="9495" y="3418"/>
                  </a:cubicBezTo>
                  <a:cubicBezTo>
                    <a:pt x="9411" y="3160"/>
                    <a:pt x="9193" y="2976"/>
                    <a:pt x="8924" y="2938"/>
                  </a:cubicBezTo>
                  <a:lnTo>
                    <a:pt x="6579" y="2596"/>
                  </a:lnTo>
                  <a:cubicBezTo>
                    <a:pt x="6532" y="2589"/>
                    <a:pt x="6494" y="2561"/>
                    <a:pt x="6472" y="2519"/>
                  </a:cubicBezTo>
                  <a:lnTo>
                    <a:pt x="5424" y="394"/>
                  </a:lnTo>
                  <a:cubicBezTo>
                    <a:pt x="5303" y="151"/>
                    <a:pt x="5062" y="1"/>
                    <a:pt x="4789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5942960" y="1866727"/>
              <a:ext cx="27975" cy="29074"/>
            </a:xfrm>
            <a:custGeom>
              <a:rect b="b" l="l" r="r" t="t"/>
              <a:pathLst>
                <a:path extrusionOk="0" h="979" w="942">
                  <a:moveTo>
                    <a:pt x="622" y="0"/>
                  </a:moveTo>
                  <a:cubicBezTo>
                    <a:pt x="535" y="0"/>
                    <a:pt x="448" y="40"/>
                    <a:pt x="393" y="116"/>
                  </a:cubicBezTo>
                  <a:lnTo>
                    <a:pt x="93" y="530"/>
                  </a:lnTo>
                  <a:cubicBezTo>
                    <a:pt x="1" y="655"/>
                    <a:pt x="29" y="833"/>
                    <a:pt x="155" y="925"/>
                  </a:cubicBezTo>
                  <a:cubicBezTo>
                    <a:pt x="205" y="960"/>
                    <a:pt x="264" y="978"/>
                    <a:pt x="321" y="978"/>
                  </a:cubicBezTo>
                  <a:cubicBezTo>
                    <a:pt x="409" y="978"/>
                    <a:pt x="495" y="940"/>
                    <a:pt x="548" y="861"/>
                  </a:cubicBezTo>
                  <a:lnTo>
                    <a:pt x="848" y="449"/>
                  </a:lnTo>
                  <a:cubicBezTo>
                    <a:pt x="942" y="322"/>
                    <a:pt x="913" y="146"/>
                    <a:pt x="788" y="54"/>
                  </a:cubicBezTo>
                  <a:cubicBezTo>
                    <a:pt x="738" y="18"/>
                    <a:pt x="680" y="0"/>
                    <a:pt x="622" y="0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5"/>
            <p:cNvSpPr/>
            <p:nvPr/>
          </p:nvSpPr>
          <p:spPr>
            <a:xfrm>
              <a:off x="5765547" y="1866638"/>
              <a:ext cx="27975" cy="29104"/>
            </a:xfrm>
            <a:custGeom>
              <a:rect b="b" l="l" r="r" t="t"/>
              <a:pathLst>
                <a:path extrusionOk="0" h="980" w="942">
                  <a:moveTo>
                    <a:pt x="322" y="1"/>
                  </a:moveTo>
                  <a:cubicBezTo>
                    <a:pt x="264" y="1"/>
                    <a:pt x="206" y="18"/>
                    <a:pt x="156" y="55"/>
                  </a:cubicBezTo>
                  <a:cubicBezTo>
                    <a:pt x="30" y="148"/>
                    <a:pt x="0" y="322"/>
                    <a:pt x="92" y="451"/>
                  </a:cubicBezTo>
                  <a:lnTo>
                    <a:pt x="392" y="863"/>
                  </a:lnTo>
                  <a:cubicBezTo>
                    <a:pt x="447" y="938"/>
                    <a:pt x="534" y="980"/>
                    <a:pt x="620" y="980"/>
                  </a:cubicBezTo>
                  <a:cubicBezTo>
                    <a:pt x="678" y="980"/>
                    <a:pt x="735" y="963"/>
                    <a:pt x="785" y="926"/>
                  </a:cubicBezTo>
                  <a:cubicBezTo>
                    <a:pt x="913" y="834"/>
                    <a:pt x="941" y="657"/>
                    <a:pt x="851" y="529"/>
                  </a:cubicBezTo>
                  <a:lnTo>
                    <a:pt x="551" y="117"/>
                  </a:lnTo>
                  <a:cubicBezTo>
                    <a:pt x="495" y="42"/>
                    <a:pt x="409" y="1"/>
                    <a:pt x="322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5708053" y="2039181"/>
              <a:ext cx="33350" cy="21412"/>
            </a:xfrm>
            <a:custGeom>
              <a:rect b="b" l="l" r="r" t="t"/>
              <a:pathLst>
                <a:path extrusionOk="0" h="721" w="1123">
                  <a:moveTo>
                    <a:pt x="804" y="0"/>
                  </a:moveTo>
                  <a:cubicBezTo>
                    <a:pt x="775" y="0"/>
                    <a:pt x="746" y="5"/>
                    <a:pt x="717" y="14"/>
                  </a:cubicBezTo>
                  <a:lnTo>
                    <a:pt x="232" y="170"/>
                  </a:lnTo>
                  <a:cubicBezTo>
                    <a:pt x="82" y="218"/>
                    <a:pt x="0" y="377"/>
                    <a:pt x="49" y="526"/>
                  </a:cubicBezTo>
                  <a:cubicBezTo>
                    <a:pt x="88" y="645"/>
                    <a:pt x="198" y="721"/>
                    <a:pt x="317" y="721"/>
                  </a:cubicBezTo>
                  <a:cubicBezTo>
                    <a:pt x="345" y="721"/>
                    <a:pt x="376" y="716"/>
                    <a:pt x="404" y="706"/>
                  </a:cubicBezTo>
                  <a:lnTo>
                    <a:pt x="890" y="548"/>
                  </a:lnTo>
                  <a:cubicBezTo>
                    <a:pt x="1040" y="503"/>
                    <a:pt x="1122" y="344"/>
                    <a:pt x="1072" y="195"/>
                  </a:cubicBezTo>
                  <a:cubicBezTo>
                    <a:pt x="1033" y="76"/>
                    <a:pt x="922" y="0"/>
                    <a:pt x="804" y="0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5859867" y="2138133"/>
              <a:ext cx="16779" cy="32014"/>
            </a:xfrm>
            <a:custGeom>
              <a:rect b="b" l="l" r="r" t="t"/>
              <a:pathLst>
                <a:path extrusionOk="0" h="1078" w="565">
                  <a:moveTo>
                    <a:pt x="282" y="1"/>
                  </a:moveTo>
                  <a:cubicBezTo>
                    <a:pt x="126" y="1"/>
                    <a:pt x="1" y="126"/>
                    <a:pt x="1" y="284"/>
                  </a:cubicBezTo>
                  <a:lnTo>
                    <a:pt x="1" y="795"/>
                  </a:lnTo>
                  <a:cubicBezTo>
                    <a:pt x="1" y="952"/>
                    <a:pt x="126" y="1078"/>
                    <a:pt x="282" y="1078"/>
                  </a:cubicBezTo>
                  <a:cubicBezTo>
                    <a:pt x="439" y="1078"/>
                    <a:pt x="565" y="952"/>
                    <a:pt x="565" y="795"/>
                  </a:cubicBezTo>
                  <a:lnTo>
                    <a:pt x="565" y="284"/>
                  </a:lnTo>
                  <a:cubicBezTo>
                    <a:pt x="565" y="128"/>
                    <a:pt x="439" y="1"/>
                    <a:pt x="282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5995168" y="2039210"/>
              <a:ext cx="33202" cy="21531"/>
            </a:xfrm>
            <a:custGeom>
              <a:rect b="b" l="l" r="r" t="t"/>
              <a:pathLst>
                <a:path extrusionOk="0" h="725" w="1118">
                  <a:moveTo>
                    <a:pt x="317" y="1"/>
                  </a:moveTo>
                  <a:cubicBezTo>
                    <a:pt x="198" y="1"/>
                    <a:pt x="87" y="77"/>
                    <a:pt x="48" y="197"/>
                  </a:cubicBezTo>
                  <a:cubicBezTo>
                    <a:pt x="1" y="345"/>
                    <a:pt x="81" y="504"/>
                    <a:pt x="230" y="552"/>
                  </a:cubicBezTo>
                  <a:lnTo>
                    <a:pt x="716" y="710"/>
                  </a:lnTo>
                  <a:cubicBezTo>
                    <a:pt x="746" y="720"/>
                    <a:pt x="775" y="725"/>
                    <a:pt x="805" y="725"/>
                  </a:cubicBezTo>
                  <a:cubicBezTo>
                    <a:pt x="924" y="725"/>
                    <a:pt x="1034" y="649"/>
                    <a:pt x="1073" y="529"/>
                  </a:cubicBezTo>
                  <a:cubicBezTo>
                    <a:pt x="1118" y="378"/>
                    <a:pt x="1039" y="219"/>
                    <a:pt x="890" y="172"/>
                  </a:cubicBezTo>
                  <a:lnTo>
                    <a:pt x="404" y="15"/>
                  </a:lnTo>
                  <a:cubicBezTo>
                    <a:pt x="375" y="5"/>
                    <a:pt x="346" y="1"/>
                    <a:pt x="317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25"/>
          <p:cNvGrpSpPr/>
          <p:nvPr/>
        </p:nvGrpSpPr>
        <p:grpSpPr>
          <a:xfrm>
            <a:off x="4329519" y="1584028"/>
            <a:ext cx="644848" cy="604039"/>
            <a:chOff x="2753373" y="2902523"/>
            <a:chExt cx="347552" cy="325557"/>
          </a:xfrm>
        </p:grpSpPr>
        <p:sp>
          <p:nvSpPr>
            <p:cNvPr id="427" name="Google Shape;427;p25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25"/>
          <p:cNvSpPr txBox="1"/>
          <p:nvPr>
            <p:ph idx="4294967295" type="subTitle"/>
          </p:nvPr>
        </p:nvSpPr>
        <p:spPr>
          <a:xfrm>
            <a:off x="727056" y="2895867"/>
            <a:ext cx="2312100" cy="2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Reprueban el examen de grado.</a:t>
            </a:r>
            <a:endParaRPr sz="10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25"/>
          <p:cNvSpPr txBox="1"/>
          <p:nvPr>
            <p:ph idx="4294967295" type="subTitle"/>
          </p:nvPr>
        </p:nvSpPr>
        <p:spPr>
          <a:xfrm>
            <a:off x="727056" y="3284414"/>
            <a:ext cx="2312100" cy="2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latin typeface="Poppins"/>
                <a:ea typeface="Poppins"/>
                <a:cs typeface="Poppins"/>
                <a:sym typeface="Poppins"/>
              </a:rPr>
              <a:t>En algunas facultades solo el</a:t>
            </a:r>
            <a:endParaRPr b="1" i="1" sz="8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25"/>
          <p:cNvSpPr txBox="1"/>
          <p:nvPr>
            <p:ph idx="4294967295" type="title"/>
          </p:nvPr>
        </p:nvSpPr>
        <p:spPr>
          <a:xfrm>
            <a:off x="1003686" y="1689025"/>
            <a:ext cx="1764600" cy="5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+4.000</a:t>
            </a:r>
            <a:endParaRPr b="0" sz="3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436" name="Google Shape;436;p25"/>
          <p:cNvSpPr txBox="1"/>
          <p:nvPr>
            <p:ph idx="4294967295" type="title"/>
          </p:nvPr>
        </p:nvSpPr>
        <p:spPr>
          <a:xfrm>
            <a:off x="1007350" y="3619427"/>
            <a:ext cx="1764600" cy="31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43% </a:t>
            </a:r>
            <a:r>
              <a:rPr b="0" lang="en" sz="1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aprueba</a:t>
            </a:r>
            <a:endParaRPr b="0" sz="1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437" name="Google Shape;437;p25"/>
          <p:cNvSpPr txBox="1"/>
          <p:nvPr>
            <p:ph idx="4294967295" type="subTitle"/>
          </p:nvPr>
        </p:nvSpPr>
        <p:spPr>
          <a:xfrm>
            <a:off x="930700" y="4133350"/>
            <a:ext cx="2005500" cy="73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latin typeface="Poppins"/>
                <a:ea typeface="Poppins"/>
                <a:cs typeface="Poppins"/>
                <a:sym typeface="Poppins"/>
              </a:rPr>
              <a:t>Fuentes:</a:t>
            </a:r>
            <a:endParaRPr i="1"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La Tercera (2008); </a:t>
            </a: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El Mercurio Legal (2018);</a:t>
            </a:r>
            <a:endParaRPr i="1"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RPUD U. de Chile (2021);</a:t>
            </a: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 Diario El Día (2025).</a:t>
            </a:r>
            <a:endParaRPr i="1" sz="6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6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863" y="660001"/>
            <a:ext cx="4535725" cy="35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"/>
          <p:cNvSpPr txBox="1"/>
          <p:nvPr>
            <p:ph type="title"/>
          </p:nvPr>
        </p:nvSpPr>
        <p:spPr>
          <a:xfrm>
            <a:off x="1563375" y="694275"/>
            <a:ext cx="435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27"/>
          <p:cNvSpPr txBox="1"/>
          <p:nvPr>
            <p:ph idx="3" type="subTitle"/>
          </p:nvPr>
        </p:nvSpPr>
        <p:spPr>
          <a:xfrm>
            <a:off x="1588050" y="2062850"/>
            <a:ext cx="36702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Contribuir a mejorar la preparación de los estudiantes de Derecho en Chile para el </a:t>
            </a:r>
            <a:r>
              <a:rPr lang="en"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examen de grado,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abordando la falta de herramientas personalizadas que faciliten la práctica constante, la detección de debilidades y el seguimiento del progreso.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27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7" title="law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9325" y="1879323"/>
            <a:ext cx="2069475" cy="18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 txBox="1"/>
          <p:nvPr>
            <p:ph type="title"/>
          </p:nvPr>
        </p:nvSpPr>
        <p:spPr>
          <a:xfrm>
            <a:off x="1563375" y="694275"/>
            <a:ext cx="516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OBJETIVOS ESPECIFICOS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6" name="Google Shape;456;p28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>
            <p:ph idx="1" type="subTitle"/>
          </p:nvPr>
        </p:nvSpPr>
        <p:spPr>
          <a:xfrm>
            <a:off x="1862200" y="1851977"/>
            <a:ext cx="25701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Optimizar el tiempo de estudio.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28"/>
          <p:cNvSpPr txBox="1"/>
          <p:nvPr>
            <p:ph idx="4294967295" type="title"/>
          </p:nvPr>
        </p:nvSpPr>
        <p:spPr>
          <a:xfrm>
            <a:off x="1287675" y="169498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28"/>
          <p:cNvSpPr txBox="1"/>
          <p:nvPr>
            <p:ph idx="1" type="subTitle"/>
          </p:nvPr>
        </p:nvSpPr>
        <p:spPr>
          <a:xfrm>
            <a:off x="5280400" y="1835300"/>
            <a:ext cx="2712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Mejorar la comprensión de los temas difíciles.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28"/>
          <p:cNvSpPr txBox="1"/>
          <p:nvPr>
            <p:ph idx="4294967295" type="title"/>
          </p:nvPr>
        </p:nvSpPr>
        <p:spPr>
          <a:xfrm>
            <a:off x="4705875" y="169498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28"/>
          <p:cNvSpPr txBox="1"/>
          <p:nvPr>
            <p:ph idx="1" type="subTitle"/>
          </p:nvPr>
        </p:nvSpPr>
        <p:spPr>
          <a:xfrm>
            <a:off x="1862204" y="3178522"/>
            <a:ext cx="25701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Potenciar el aprendizaje mediante práctica inteligente.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28"/>
          <p:cNvSpPr txBox="1"/>
          <p:nvPr>
            <p:ph idx="4294967295" type="title"/>
          </p:nvPr>
        </p:nvSpPr>
        <p:spPr>
          <a:xfrm>
            <a:off x="1287675" y="302153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p28"/>
          <p:cNvSpPr txBox="1"/>
          <p:nvPr>
            <p:ph idx="1" type="subTitle"/>
          </p:nvPr>
        </p:nvSpPr>
        <p:spPr>
          <a:xfrm>
            <a:off x="5280400" y="3178525"/>
            <a:ext cx="28665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Construir hábitos de estudio constantes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28"/>
          <p:cNvSpPr txBox="1"/>
          <p:nvPr>
            <p:ph idx="4294967295" type="title"/>
          </p:nvPr>
        </p:nvSpPr>
        <p:spPr>
          <a:xfrm>
            <a:off x="4705875" y="302153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28"/>
          <p:cNvSpPr txBox="1"/>
          <p:nvPr/>
        </p:nvSpPr>
        <p:spPr>
          <a:xfrm>
            <a:off x="1951150" y="2115473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Enfocar al estudiante en lo que realmente necesita.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5369750" y="22632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Detectar errores y reforzar lo que no domina.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1951150" y="36084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Practicar con ejercicios adaptados a su selección.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5369750" y="36084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Mantener seguimiento para construir el hábito.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9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ALCANCE DEL PROYECTO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4" name="Google Shape;474;p29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/>
          <p:nvPr/>
        </p:nvSpPr>
        <p:spPr>
          <a:xfrm>
            <a:off x="3864400" y="1459650"/>
            <a:ext cx="4493700" cy="30954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76" name="Google Shape;476;p29"/>
          <p:cNvSpPr txBox="1"/>
          <p:nvPr>
            <p:ph idx="3" type="subTitle"/>
          </p:nvPr>
        </p:nvSpPr>
        <p:spPr>
          <a:xfrm>
            <a:off x="3993775" y="1671900"/>
            <a:ext cx="41715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de una app móvil (Android).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Cobertura inicial de las materias Derecho Civil y Derecho Procesal.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Generación de preguntas basadas en los contenidos de cada materia.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Prácticas personalizadas: preguntas se seleccionan según el desempeño del estudiante o sus preferencias.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Corrección con feedback argumentado, indicando si la respuesta fue correcta o no y por qué.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Panel visual de progreso que muestra fortalezas, debilidades y evolución del estudiante en cada tema.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743225" y="1671900"/>
            <a:ext cx="284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La solución consiste en una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aplicación móvil que ayuda a los estudiantes de Derecho a </a:t>
            </a:r>
            <a:r>
              <a:rPr lang="en" sz="11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practicar y reforzar sus conocimientos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mediante </a:t>
            </a:r>
            <a:r>
              <a:rPr b="1" lang="en" sz="11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preguntas generadas con IA.</a:t>
            </a:r>
            <a:br>
              <a:rPr b="1" lang="en" sz="1100">
                <a:latin typeface="Poppins"/>
                <a:ea typeface="Poppins"/>
                <a:cs typeface="Poppins"/>
                <a:sym typeface="Poppins"/>
              </a:rPr>
            </a:b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La app evalúa al estudiante, detecta sus errores, explica por qué falló y le muestra su progreso en cada área.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LIMITACIONES DEL PROYECTO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3" name="Google Shape;483;p30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/>
          <p:nvPr/>
        </p:nvSpPr>
        <p:spPr>
          <a:xfrm>
            <a:off x="1982650" y="1513713"/>
            <a:ext cx="5275200" cy="28134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85" name="Google Shape;485;p30"/>
          <p:cNvSpPr txBox="1"/>
          <p:nvPr>
            <p:ph idx="3" type="subTitle"/>
          </p:nvPr>
        </p:nvSpPr>
        <p:spPr>
          <a:xfrm>
            <a:off x="2134125" y="1876070"/>
            <a:ext cx="48882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 de conexión a internet: el uso de la app requiere conexión constante, lo que limita el funcionamiento offline.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corrección automática básica y la p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ersonalización de aprendizaje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 sustituye a un profesor o tutor.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Actualmente el sistema abarca sólo 2 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áreas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principales del examen de grado.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 de APIs externas: el funcionamiento depende de la disponibilidad y estabilidad de servicios como OpenAI, Azure Speech Service y Azure Database for PostgreSQL.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METODOLOGIA </a:t>
            </a: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SCRUM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1" name="Google Shape;491;p31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1"/>
          <p:cNvSpPr/>
          <p:nvPr/>
        </p:nvSpPr>
        <p:spPr>
          <a:xfrm>
            <a:off x="769950" y="1467700"/>
            <a:ext cx="3836700" cy="14790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769950" y="1467700"/>
            <a:ext cx="3836700" cy="14247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720000" y="1570229"/>
            <a:ext cx="3936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Framework Ágil</a:t>
            </a:r>
            <a:endParaRPr sz="16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Metodología iterativa e incremental.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6 sprints de 2 semanas cada uno.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Entregas incrementales de valor al final de cada sprint.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769950" y="3087772"/>
            <a:ext cx="1877100" cy="1376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769950" y="3087772"/>
            <a:ext cx="1877100" cy="1326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769950" y="3183222"/>
            <a:ext cx="187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Herramientas</a:t>
            </a:r>
            <a:endParaRPr sz="9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98" name="Google Shape;498;p31"/>
          <p:cNvGrpSpPr/>
          <p:nvPr/>
        </p:nvGrpSpPr>
        <p:grpSpPr>
          <a:xfrm>
            <a:off x="914725" y="3668645"/>
            <a:ext cx="419400" cy="576855"/>
            <a:chOff x="914725" y="3668645"/>
            <a:chExt cx="419400" cy="576855"/>
          </a:xfrm>
        </p:grpSpPr>
        <p:pic>
          <p:nvPicPr>
            <p:cNvPr descr="Github Logo PNG Vectors Free Download" id="499" name="Google Shape;499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1189" y="3668645"/>
              <a:ext cx="326422" cy="326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31"/>
            <p:cNvSpPr txBox="1"/>
            <p:nvPr/>
          </p:nvSpPr>
          <p:spPr>
            <a:xfrm>
              <a:off x="914725" y="4019000"/>
              <a:ext cx="4194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GitHub</a:t>
              </a:r>
              <a:endParaRPr sz="630"/>
            </a:p>
          </p:txBody>
        </p:sp>
      </p:grpSp>
      <p:grpSp>
        <p:nvGrpSpPr>
          <p:cNvPr id="501" name="Google Shape;501;p31"/>
          <p:cNvGrpSpPr/>
          <p:nvPr/>
        </p:nvGrpSpPr>
        <p:grpSpPr>
          <a:xfrm>
            <a:off x="1315980" y="3656350"/>
            <a:ext cx="454800" cy="589142"/>
            <a:chOff x="1439355" y="3713828"/>
            <a:chExt cx="454800" cy="589142"/>
          </a:xfrm>
        </p:grpSpPr>
        <p:pic>
          <p:nvPicPr>
            <p:cNvPr descr="Jira Logo - símbolo, significado logotipo, historia, PNG" id="502" name="Google Shape;502;p31"/>
            <p:cNvPicPr preferRelativeResize="0"/>
            <p:nvPr/>
          </p:nvPicPr>
          <p:blipFill rotWithShape="1">
            <a:blip r:embed="rId5">
              <a:alphaModFix/>
            </a:blip>
            <a:srcRect b="28991" l="0" r="60987" t="16898"/>
            <a:stretch/>
          </p:blipFill>
          <p:spPr>
            <a:xfrm>
              <a:off x="1502556" y="3713828"/>
              <a:ext cx="347004" cy="32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31"/>
            <p:cNvSpPr txBox="1"/>
            <p:nvPr/>
          </p:nvSpPr>
          <p:spPr>
            <a:xfrm>
              <a:off x="1439355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Jira</a:t>
              </a:r>
              <a:endParaRPr sz="630"/>
            </a:p>
          </p:txBody>
        </p:sp>
      </p:grpSp>
      <p:grpSp>
        <p:nvGrpSpPr>
          <p:cNvPr id="504" name="Google Shape;504;p31"/>
          <p:cNvGrpSpPr/>
          <p:nvPr/>
        </p:nvGrpSpPr>
        <p:grpSpPr>
          <a:xfrm>
            <a:off x="1729336" y="3614320"/>
            <a:ext cx="454800" cy="631171"/>
            <a:chOff x="1946486" y="3671799"/>
            <a:chExt cx="454800" cy="631171"/>
          </a:xfrm>
        </p:grpSpPr>
        <p:pic>
          <p:nvPicPr>
            <p:cNvPr id="505" name="Google Shape;505;p31" title="Canva-Logo-Design-Platform-Ic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65705" y="3671799"/>
              <a:ext cx="416310" cy="416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31"/>
            <p:cNvSpPr txBox="1"/>
            <p:nvPr/>
          </p:nvSpPr>
          <p:spPr>
            <a:xfrm>
              <a:off x="1946486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Canva</a:t>
              </a:r>
              <a:endParaRPr sz="630"/>
            </a:p>
          </p:txBody>
        </p:sp>
      </p:grpSp>
      <p:grpSp>
        <p:nvGrpSpPr>
          <p:cNvPr id="507" name="Google Shape;507;p31"/>
          <p:cNvGrpSpPr/>
          <p:nvPr/>
        </p:nvGrpSpPr>
        <p:grpSpPr>
          <a:xfrm>
            <a:off x="2152566" y="3685612"/>
            <a:ext cx="454800" cy="559879"/>
            <a:chOff x="2453616" y="3743091"/>
            <a:chExt cx="454800" cy="559879"/>
          </a:xfrm>
        </p:grpSpPr>
        <p:pic>
          <p:nvPicPr>
            <p:cNvPr descr="File:Figma-logo.svg - Wikimedia Commons" id="508" name="Google Shape;50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67231" y="3743091"/>
              <a:ext cx="217344" cy="326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31"/>
            <p:cNvSpPr txBox="1"/>
            <p:nvPr/>
          </p:nvSpPr>
          <p:spPr>
            <a:xfrm>
              <a:off x="2453616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Figma</a:t>
              </a:r>
              <a:endParaRPr sz="630"/>
            </a:p>
          </p:txBody>
        </p:sp>
      </p:grpSp>
      <p:sp>
        <p:nvSpPr>
          <p:cNvPr id="510" name="Google Shape;510;p31"/>
          <p:cNvSpPr/>
          <p:nvPr/>
        </p:nvSpPr>
        <p:spPr>
          <a:xfrm>
            <a:off x="2750825" y="3087772"/>
            <a:ext cx="1876200" cy="1376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2750825" y="3087772"/>
            <a:ext cx="1876200" cy="1326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2750825" y="3183222"/>
            <a:ext cx="18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Ceremonias</a:t>
            </a:r>
            <a:endParaRPr sz="9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2881625" y="3685622"/>
            <a:ext cx="16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Sprint Planning, Daily, Review y Retrospective.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4790250" y="1356675"/>
            <a:ext cx="3836700" cy="33663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4790250" y="1356688"/>
            <a:ext cx="3836700" cy="33072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4973825" y="1467700"/>
            <a:ext cx="336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por Sprints</a:t>
            </a:r>
            <a:b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1200">
              <a:solidFill>
                <a:srgbClr val="13B98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1: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Funcionalidades base → visualizar preguntas, responder por texto, ver materias.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2: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Feedback y progreso → retroalimentación, ver si es correcta, tablero de progreso, explicación de corrección.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3: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Funcionalidades avanzadas → responder por voz, detectar debilidades, recomendaciones, escuchar corrección.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4: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Personalización y cierre → recordatorios, notificaciones, login, puntaje final, selección de materias, perfil.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5: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Personalización y cierre →login, puntaje final, selección de materias.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6: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Revisiones →</a:t>
            </a:r>
            <a:r>
              <a:rPr b="1" lang="en" sz="750"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Recibir notificaciones para estudiar, Configurar mi perfil.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2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RELEASE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p32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2"/>
          <p:cNvSpPr/>
          <p:nvPr/>
        </p:nvSpPr>
        <p:spPr>
          <a:xfrm>
            <a:off x="72000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72000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Preguntas y Respuestas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2256425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2256425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Corrección y Feedback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3792876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3792876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Ver progreso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4344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4344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Recordatorios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687985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687985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Perfil</a:t>
            </a:r>
            <a:endParaRPr b="1"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720025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Visualizar preguntas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2256450" y="214593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si mi respuesta está correcta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3792901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mis debilidades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32"/>
          <p:cNvSpPr/>
          <p:nvPr/>
        </p:nvSpPr>
        <p:spPr>
          <a:xfrm>
            <a:off x="5343465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Guardar preferencias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720025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Responder preguntas por texto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2256450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Leer explicación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32"/>
          <p:cNvSpPr/>
          <p:nvPr/>
        </p:nvSpPr>
        <p:spPr>
          <a:xfrm>
            <a:off x="3792901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Dashboard de progreso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32"/>
          <p:cNvSpPr/>
          <p:nvPr/>
        </p:nvSpPr>
        <p:spPr>
          <a:xfrm>
            <a:off x="720025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Escuchar preguntas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2256450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mi puntaje final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3792901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Ver el historial de sesiones y tests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720025" y="405107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Responder preguntas por voz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32"/>
          <p:cNvSpPr txBox="1"/>
          <p:nvPr/>
        </p:nvSpPr>
        <p:spPr>
          <a:xfrm>
            <a:off x="6344650" y="1146650"/>
            <a:ext cx="196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" sz="8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Release 1: Base Practica (octubre)</a:t>
            </a:r>
            <a:endParaRPr b="1" sz="8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72000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2256425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3792876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534344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687985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4" name="Google Shape;554;p33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RELEASE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5" name="Google Shape;555;p33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3"/>
          <p:cNvSpPr/>
          <p:nvPr/>
        </p:nvSpPr>
        <p:spPr>
          <a:xfrm>
            <a:off x="71295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Escuchar la corrección de mi respuesta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7" name="Google Shape;557;p33"/>
          <p:cNvSpPr/>
          <p:nvPr/>
        </p:nvSpPr>
        <p:spPr>
          <a:xfrm>
            <a:off x="2249375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Recibir recomendaciones de estudio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533639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Recibir notificación push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687280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Crear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6872800" y="27718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Ingresar con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33"/>
          <p:cNvSpPr/>
          <p:nvPr/>
        </p:nvSpPr>
        <p:spPr>
          <a:xfrm>
            <a:off x="6872800" y="33940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Configurar perfil de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72000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Preguntas y Respuestas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3"/>
          <p:cNvSpPr/>
          <p:nvPr/>
        </p:nvSpPr>
        <p:spPr>
          <a:xfrm>
            <a:off x="2256425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Corrección y Feedback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3792876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Ver progreso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534344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Recordatorios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687985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Perfil</a:t>
            </a:r>
            <a:endParaRPr b="1"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67" name="Google Shape;567;p33"/>
          <p:cNvSpPr txBox="1"/>
          <p:nvPr/>
        </p:nvSpPr>
        <p:spPr>
          <a:xfrm>
            <a:off x="6027150" y="1137618"/>
            <a:ext cx="22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" sz="8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Release 2: Personalización (Noviembre)</a:t>
            </a:r>
            <a:endParaRPr b="1" sz="8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3792889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Visualización de progreso semanal y mensual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/>
          <p:nvPr>
            <p:ph idx="4294967295" type="title"/>
          </p:nvPr>
        </p:nvSpPr>
        <p:spPr>
          <a:xfrm rot="-5400000">
            <a:off x="-777750" y="2624200"/>
            <a:ext cx="35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ARQUITECTURA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4" name="Google Shape;574;p34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4" title="Copy of Grado Cerrado (5).png"/>
          <p:cNvPicPr preferRelativeResize="0"/>
          <p:nvPr/>
        </p:nvPicPr>
        <p:blipFill rotWithShape="1">
          <a:blip r:embed="rId4">
            <a:alphaModFix/>
          </a:blip>
          <a:srcRect b="2145" l="0" r="0" t="9903"/>
          <a:stretch/>
        </p:blipFill>
        <p:spPr>
          <a:xfrm>
            <a:off x="2066325" y="384003"/>
            <a:ext cx="5882174" cy="4409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 txBox="1"/>
          <p:nvPr>
            <p:ph idx="4294967295" type="title"/>
          </p:nvPr>
        </p:nvSpPr>
        <p:spPr>
          <a:xfrm rot="-5400000">
            <a:off x="-279750" y="2566853"/>
            <a:ext cx="257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MODELO DE DATOS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1" name="Google Shape;581;p35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5" title="Untitled (1).png"/>
          <p:cNvPicPr preferRelativeResize="0"/>
          <p:nvPr/>
        </p:nvPicPr>
        <p:blipFill rotWithShape="1">
          <a:blip r:embed="rId4">
            <a:alphaModFix/>
          </a:blip>
          <a:srcRect b="6507" l="0" r="0" t="0"/>
          <a:stretch/>
        </p:blipFill>
        <p:spPr>
          <a:xfrm>
            <a:off x="2177500" y="395999"/>
            <a:ext cx="6314100" cy="42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/>
          <p:nvPr/>
        </p:nvSpPr>
        <p:spPr>
          <a:xfrm>
            <a:off x="1705450" y="2994241"/>
            <a:ext cx="1701000" cy="15459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1705450" y="2994250"/>
            <a:ext cx="1701000" cy="1497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89" name="Google Shape;589;p36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0" name="Google Shape;590;p36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6"/>
          <p:cNvSpPr/>
          <p:nvPr/>
        </p:nvSpPr>
        <p:spPr>
          <a:xfrm>
            <a:off x="3512050" y="1383250"/>
            <a:ext cx="1460400" cy="17919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512050" y="1383250"/>
            <a:ext cx="1460400" cy="17415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93" name="Google Shape;593;p36"/>
          <p:cNvSpPr txBox="1"/>
          <p:nvPr/>
        </p:nvSpPr>
        <p:spPr>
          <a:xfrm>
            <a:off x="3512050" y="1468178"/>
            <a:ext cx="14604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</a:t>
            </a:r>
            <a:endParaRPr sz="815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3748834" y="2157824"/>
            <a:ext cx="411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Angular 20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 principal 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36"/>
          <p:cNvSpPr txBox="1"/>
          <p:nvPr/>
        </p:nvSpPr>
        <p:spPr>
          <a:xfrm>
            <a:off x="4391920" y="2157824"/>
            <a:ext cx="41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TypeScript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Lenguaje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36"/>
          <p:cNvSpPr txBox="1"/>
          <p:nvPr/>
        </p:nvSpPr>
        <p:spPr>
          <a:xfrm>
            <a:off x="3663180" y="2776553"/>
            <a:ext cx="533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Ionic/Capacitor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móvil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36"/>
          <p:cNvSpPr txBox="1"/>
          <p:nvPr/>
        </p:nvSpPr>
        <p:spPr>
          <a:xfrm>
            <a:off x="4314579" y="2779557"/>
            <a:ext cx="50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RxJS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434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reactiva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8" name="Google Shape;598;p36"/>
          <p:cNvPicPr preferRelativeResize="0"/>
          <p:nvPr/>
        </p:nvPicPr>
        <p:blipFill rotWithShape="1">
          <a:blip r:embed="rId4">
            <a:alphaModFix/>
          </a:blip>
          <a:srcRect b="13309" l="0" r="0" t="9357"/>
          <a:stretch/>
        </p:blipFill>
        <p:spPr>
          <a:xfrm>
            <a:off x="3752626" y="1860314"/>
            <a:ext cx="408250" cy="315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2354" y="1879183"/>
            <a:ext cx="276018" cy="27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42" y="2430107"/>
            <a:ext cx="372164" cy="37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6"/>
          <p:cNvPicPr preferRelativeResize="0"/>
          <p:nvPr/>
        </p:nvPicPr>
        <p:blipFill rotWithShape="1">
          <a:blip r:embed="rId7">
            <a:alphaModFix/>
          </a:blip>
          <a:srcRect b="0" l="30141" r="28002" t="0"/>
          <a:stretch/>
        </p:blipFill>
        <p:spPr>
          <a:xfrm>
            <a:off x="4405366" y="2449923"/>
            <a:ext cx="355012" cy="286262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6"/>
          <p:cNvSpPr/>
          <p:nvPr/>
        </p:nvSpPr>
        <p:spPr>
          <a:xfrm>
            <a:off x="5078017" y="3248697"/>
            <a:ext cx="2645100" cy="1286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5078017" y="3248722"/>
            <a:ext cx="2645100" cy="1239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04" name="Google Shape;604;p36"/>
          <p:cNvSpPr txBox="1"/>
          <p:nvPr/>
        </p:nvSpPr>
        <p:spPr>
          <a:xfrm>
            <a:off x="5078017" y="3335178"/>
            <a:ext cx="264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Librerías y Herramientas</a:t>
            </a:r>
            <a:endParaRPr sz="815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5" name="Google Shape;605;p36"/>
          <p:cNvSpPr txBox="1"/>
          <p:nvPr/>
        </p:nvSpPr>
        <p:spPr>
          <a:xfrm>
            <a:off x="5075401" y="4073935"/>
            <a:ext cx="663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OpenAI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Generación de preguntas (GPT-4)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6" name="Google Shape;60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2198" y="3775700"/>
            <a:ext cx="292330" cy="291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6"/>
          <p:cNvSpPr txBox="1"/>
          <p:nvPr/>
        </p:nvSpPr>
        <p:spPr>
          <a:xfrm>
            <a:off x="5739000" y="4073935"/>
            <a:ext cx="632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4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iText7 8.0.2 - DocumentFormat.OpenXml 3.0.1 - 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8" name="Google Shape;608;p36"/>
          <p:cNvPicPr preferRelativeResize="0"/>
          <p:nvPr/>
        </p:nvPicPr>
        <p:blipFill rotWithShape="1">
          <a:blip r:embed="rId9">
            <a:alphaModFix/>
          </a:blip>
          <a:srcRect b="13496" l="15672" r="14548" t="16966"/>
          <a:stretch/>
        </p:blipFill>
        <p:spPr>
          <a:xfrm>
            <a:off x="5922600" y="3770508"/>
            <a:ext cx="253425" cy="2525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6"/>
          <p:cNvSpPr txBox="1"/>
          <p:nvPr/>
        </p:nvSpPr>
        <p:spPr>
          <a:xfrm>
            <a:off x="7096263" y="4073935"/>
            <a:ext cx="533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NAudio 2.2.1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Procesamiento de audio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0" name="Google Shape;610;p36"/>
          <p:cNvPicPr preferRelativeResize="0"/>
          <p:nvPr/>
        </p:nvPicPr>
        <p:blipFill rotWithShape="1">
          <a:blip r:embed="rId10">
            <a:alphaModFix/>
          </a:blip>
          <a:srcRect b="0" l="0" r="71678" t="0"/>
          <a:stretch/>
        </p:blipFill>
        <p:spPr>
          <a:xfrm>
            <a:off x="7224938" y="3784197"/>
            <a:ext cx="276024" cy="2251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6"/>
          <p:cNvSpPr/>
          <p:nvPr/>
        </p:nvSpPr>
        <p:spPr>
          <a:xfrm>
            <a:off x="3512050" y="3253422"/>
            <a:ext cx="1460400" cy="1286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3512050" y="3253422"/>
            <a:ext cx="1460400" cy="12378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3" name="Google Shape;613;p36"/>
          <p:cNvSpPr txBox="1"/>
          <p:nvPr/>
        </p:nvSpPr>
        <p:spPr>
          <a:xfrm>
            <a:off x="3512050" y="3338350"/>
            <a:ext cx="1460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1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de datos</a:t>
            </a:r>
            <a:endParaRPr sz="706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3568777" y="4069607"/>
            <a:ext cx="632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relacional principal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5" name="Google Shape;615;p36"/>
          <p:cNvPicPr preferRelativeResize="0"/>
          <p:nvPr/>
        </p:nvPicPr>
        <p:blipFill rotWithShape="1">
          <a:blip r:embed="rId11">
            <a:alphaModFix/>
          </a:blip>
          <a:srcRect b="6691" l="28486" r="27968" t="9878"/>
          <a:stretch/>
        </p:blipFill>
        <p:spPr>
          <a:xfrm>
            <a:off x="3739376" y="3790447"/>
            <a:ext cx="260800" cy="26234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6"/>
          <p:cNvSpPr txBox="1"/>
          <p:nvPr/>
        </p:nvSpPr>
        <p:spPr>
          <a:xfrm>
            <a:off x="4274009" y="4072948"/>
            <a:ext cx="6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Qdrant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vectorial para IA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7" name="Google Shape;617;p36"/>
          <p:cNvPicPr preferRelativeResize="0"/>
          <p:nvPr/>
        </p:nvPicPr>
        <p:blipFill rotWithShape="1">
          <a:blip r:embed="rId12">
            <a:alphaModFix/>
          </a:blip>
          <a:srcRect b="8824" l="0" r="0" t="7849"/>
          <a:stretch/>
        </p:blipFill>
        <p:spPr>
          <a:xfrm>
            <a:off x="4424053" y="3782658"/>
            <a:ext cx="332618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6"/>
          <p:cNvSpPr/>
          <p:nvPr/>
        </p:nvSpPr>
        <p:spPr>
          <a:xfrm>
            <a:off x="5078026" y="1383250"/>
            <a:ext cx="2645100" cy="17919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5078051" y="1382964"/>
            <a:ext cx="2645100" cy="17415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20" name="Google Shape;620;p36"/>
          <p:cNvSpPr txBox="1"/>
          <p:nvPr/>
        </p:nvSpPr>
        <p:spPr>
          <a:xfrm>
            <a:off x="5078026" y="1468178"/>
            <a:ext cx="264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Servicios Nube</a:t>
            </a:r>
            <a:endParaRPr sz="815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1" name="Google Shape;621;p36"/>
          <p:cNvSpPr txBox="1"/>
          <p:nvPr/>
        </p:nvSpPr>
        <p:spPr>
          <a:xfrm>
            <a:off x="5727598" y="2127605"/>
            <a:ext cx="597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Speech Service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Text-to-Speech y Speech-to-Text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36"/>
          <p:cNvSpPr txBox="1"/>
          <p:nvPr/>
        </p:nvSpPr>
        <p:spPr>
          <a:xfrm>
            <a:off x="5192253" y="2761446"/>
            <a:ext cx="663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App Service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Hosting del backend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36"/>
          <p:cNvSpPr txBox="1"/>
          <p:nvPr/>
        </p:nvSpPr>
        <p:spPr>
          <a:xfrm>
            <a:off x="5126693" y="2131065"/>
            <a:ext cx="632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Database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4" name="Google Shape;624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10946" y="1860866"/>
            <a:ext cx="234830" cy="23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31017" y="1830344"/>
            <a:ext cx="355024" cy="28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97618" y="2515723"/>
            <a:ext cx="249617" cy="24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51497" y="2483867"/>
            <a:ext cx="299476" cy="29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6"/>
          <p:cNvSpPr txBox="1"/>
          <p:nvPr/>
        </p:nvSpPr>
        <p:spPr>
          <a:xfrm>
            <a:off x="5963478" y="2762766"/>
            <a:ext cx="8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Firebase Cloud Messaging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notificaciones push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1705450" y="1383250"/>
            <a:ext cx="1701000" cy="15459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1705450" y="1383250"/>
            <a:ext cx="1701000" cy="1497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31" name="Google Shape;631;p36"/>
          <p:cNvSpPr txBox="1"/>
          <p:nvPr/>
        </p:nvSpPr>
        <p:spPr>
          <a:xfrm>
            <a:off x="1705458" y="1469721"/>
            <a:ext cx="1701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 sz="815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2" name="Google Shape;632;p36"/>
          <p:cNvSpPr txBox="1"/>
          <p:nvPr/>
        </p:nvSpPr>
        <p:spPr>
          <a:xfrm>
            <a:off x="1705468" y="3150720"/>
            <a:ext cx="1701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Herramientas</a:t>
            </a:r>
            <a:endParaRPr sz="815">
              <a:solidFill>
                <a:srgbClr val="3B82F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Github Logo PNG Vectors Free Download" id="633" name="Google Shape;633;p3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910667" y="3661015"/>
            <a:ext cx="295761" cy="295761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6"/>
          <p:cNvSpPr txBox="1"/>
          <p:nvPr/>
        </p:nvSpPr>
        <p:spPr>
          <a:xfrm>
            <a:off x="1852529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GitHub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Jira Logo - símbolo, significado logotipo, historia, PNG" id="635" name="Google Shape;635;p36"/>
          <p:cNvPicPr preferRelativeResize="0"/>
          <p:nvPr/>
        </p:nvPicPr>
        <p:blipFill rotWithShape="1">
          <a:blip r:embed="rId18">
            <a:alphaModFix/>
          </a:blip>
          <a:srcRect b="28991" l="0" r="60987" t="16898"/>
          <a:stretch/>
        </p:blipFill>
        <p:spPr>
          <a:xfrm>
            <a:off x="2257509" y="3665235"/>
            <a:ext cx="314410" cy="29576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6"/>
          <p:cNvSpPr txBox="1"/>
          <p:nvPr/>
        </p:nvSpPr>
        <p:spPr>
          <a:xfrm>
            <a:off x="2200245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Jira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7" name="Google Shape;637;p36" title="Canva-Logo-Design-Platform-Icon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592193" y="3627154"/>
            <a:ext cx="377210" cy="37721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6"/>
          <p:cNvSpPr txBox="1"/>
          <p:nvPr/>
        </p:nvSpPr>
        <p:spPr>
          <a:xfrm>
            <a:off x="2574779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Canva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File:Figma-logo.svg - Wikimedia Commons" id="639" name="Google Shape;639;p3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061204" y="3691749"/>
            <a:ext cx="196928" cy="29576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6"/>
          <p:cNvSpPr txBox="1"/>
          <p:nvPr/>
        </p:nvSpPr>
        <p:spPr>
          <a:xfrm>
            <a:off x="2958260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Figma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36"/>
          <p:cNvSpPr txBox="1"/>
          <p:nvPr/>
        </p:nvSpPr>
        <p:spPr>
          <a:xfrm>
            <a:off x="2272119" y="2227108"/>
            <a:ext cx="565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.NET Core 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.0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 backend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2" name="Google Shape;642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440711" y="1993648"/>
            <a:ext cx="236233" cy="23624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6"/>
          <p:cNvSpPr txBox="1"/>
          <p:nvPr/>
        </p:nvSpPr>
        <p:spPr>
          <a:xfrm>
            <a:off x="1766808" y="2223392"/>
            <a:ext cx="565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ASP.NET Core </a:t>
            </a: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API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4" name="Google Shape;644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917947" y="1986216"/>
            <a:ext cx="253433" cy="25343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 txBox="1"/>
          <p:nvPr/>
        </p:nvSpPr>
        <p:spPr>
          <a:xfrm>
            <a:off x="2760027" y="2223068"/>
            <a:ext cx="597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Entity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6" name="Google Shape;646;p36"/>
          <p:cNvPicPr preferRelativeResize="0"/>
          <p:nvPr/>
        </p:nvPicPr>
        <p:blipFill rotWithShape="1">
          <a:blip r:embed="rId23">
            <a:alphaModFix/>
          </a:blip>
          <a:srcRect b="0" l="13741" r="13936" t="0"/>
          <a:stretch/>
        </p:blipFill>
        <p:spPr>
          <a:xfrm>
            <a:off x="2918541" y="1993382"/>
            <a:ext cx="290903" cy="245011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6"/>
          <p:cNvSpPr txBox="1"/>
          <p:nvPr/>
        </p:nvSpPr>
        <p:spPr>
          <a:xfrm>
            <a:off x="6890675" y="2126036"/>
            <a:ext cx="808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Azure Container Instances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</a:t>
            </a: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ejecución de contenedores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36" title="azure_container_instances.jfif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145345" y="1825084"/>
            <a:ext cx="299475" cy="2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6"/>
          <p:cNvSpPr txBox="1"/>
          <p:nvPr/>
        </p:nvSpPr>
        <p:spPr>
          <a:xfrm>
            <a:off x="6781503" y="2761988"/>
            <a:ext cx="8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Azure Blob Storage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0" name="Google Shape;650;p36" title="images (2)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070725" y="2514256"/>
            <a:ext cx="295750" cy="26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6" title="descarga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381600" y="1870337"/>
            <a:ext cx="411900" cy="21624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6"/>
          <p:cNvSpPr txBox="1"/>
          <p:nvPr/>
        </p:nvSpPr>
        <p:spPr>
          <a:xfrm>
            <a:off x="6381601" y="2131413"/>
            <a:ext cx="5064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Static Web Apps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Servicio de 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3" name="Google Shape;653;p36" title="Gemini-Logo (1)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480776" y="3754337"/>
            <a:ext cx="506400" cy="2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6"/>
          <p:cNvSpPr txBox="1"/>
          <p:nvPr/>
        </p:nvSpPr>
        <p:spPr>
          <a:xfrm>
            <a:off x="6402188" y="4076927"/>
            <a:ext cx="6636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GEMINI version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Supervisión y Correcciòn  de preguntas (modelo)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7"/>
          <p:cNvSpPr txBox="1"/>
          <p:nvPr>
            <p:ph idx="4294967295" type="title"/>
          </p:nvPr>
        </p:nvSpPr>
        <p:spPr>
          <a:xfrm>
            <a:off x="1563375" y="694275"/>
            <a:ext cx="38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DEMOSTRACIÓN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0" name="Google Shape;660;p37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7"/>
          <p:cNvSpPr/>
          <p:nvPr/>
        </p:nvSpPr>
        <p:spPr>
          <a:xfrm>
            <a:off x="1665410" y="1506725"/>
            <a:ext cx="6240000" cy="2829300"/>
          </a:xfrm>
          <a:prstGeom prst="roundRect">
            <a:avLst>
              <a:gd fmla="val 9333" name="adj"/>
            </a:avLst>
          </a:prstGeom>
          <a:solidFill>
            <a:srgbClr val="FAF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pic>
        <p:nvPicPr>
          <p:cNvPr id="662" name="Google Shape;662;p37" title="original-18d8380e87a62bf766cfe8ef4c33727b.gif"/>
          <p:cNvPicPr preferRelativeResize="0"/>
          <p:nvPr/>
        </p:nvPicPr>
        <p:blipFill rotWithShape="1">
          <a:blip r:embed="rId4">
            <a:alphaModFix/>
          </a:blip>
          <a:srcRect b="10094" l="-10030" r="-12894" t="2804"/>
          <a:stretch/>
        </p:blipFill>
        <p:spPr>
          <a:xfrm>
            <a:off x="2292825" y="1506725"/>
            <a:ext cx="5029850" cy="2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RESULTADOS OBTENIDOS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8" name="Google Shape;668;p38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8"/>
          <p:cNvSpPr/>
          <p:nvPr/>
        </p:nvSpPr>
        <p:spPr>
          <a:xfrm>
            <a:off x="744425" y="2716250"/>
            <a:ext cx="2998200" cy="1370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744425" y="2716250"/>
            <a:ext cx="2998200" cy="1320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1" name="Google Shape;671;p38"/>
          <p:cNvSpPr txBox="1"/>
          <p:nvPr/>
        </p:nvSpPr>
        <p:spPr>
          <a:xfrm>
            <a:off x="863793" y="2793751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Aprendizajes Técnicos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2" name="Google Shape;672;p38"/>
          <p:cNvSpPr txBox="1"/>
          <p:nvPr/>
        </p:nvSpPr>
        <p:spPr>
          <a:xfrm>
            <a:off x="744427" y="3143784"/>
            <a:ext cx="29982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Dominio de Angular y .NET Core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Experiencia con servicios de Azure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Integración de IA en aplicaciones móviles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Gestión de proyectos ágiles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744400" y="1496625"/>
            <a:ext cx="2998200" cy="11178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744400" y="1496625"/>
            <a:ext cx="2998200" cy="10767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5" name="Google Shape;675;p38"/>
          <p:cNvSpPr txBox="1"/>
          <p:nvPr/>
        </p:nvSpPr>
        <p:spPr>
          <a:xfrm>
            <a:off x="863759" y="1574119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Cumplidos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6" name="Google Shape;676;p38"/>
          <p:cNvSpPr txBox="1"/>
          <p:nvPr/>
        </p:nvSpPr>
        <p:spPr>
          <a:xfrm>
            <a:off x="744404" y="1924113"/>
            <a:ext cx="299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974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100</a:t>
            </a: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% de las historias de usuario completadas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6 sprints ejecutados según planificación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Release 1  y 2 entregado a tiempo</a:t>
            </a:r>
            <a:endParaRPr sz="73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823916" y="2716250"/>
            <a:ext cx="2998200" cy="1370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3823916" y="2716250"/>
            <a:ext cx="2998200" cy="1320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9" name="Google Shape;679;p38"/>
          <p:cNvSpPr txBox="1"/>
          <p:nvPr/>
        </p:nvSpPr>
        <p:spPr>
          <a:xfrm>
            <a:off x="3943276" y="2793751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Calidad Técnica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0" name="Google Shape;680;p38"/>
          <p:cNvSpPr txBox="1"/>
          <p:nvPr/>
        </p:nvSpPr>
        <p:spPr>
          <a:xfrm>
            <a:off x="3823910" y="3143784"/>
            <a:ext cx="299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Arquitectura escalable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Código documentado y versionado en Git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Buenas prácticas de desarrollo aplicada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3823882" y="1496625"/>
            <a:ext cx="2998200" cy="11178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3823882" y="1496625"/>
            <a:ext cx="2998200" cy="10764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3" name="Google Shape;683;p38"/>
          <p:cNvSpPr txBox="1"/>
          <p:nvPr/>
        </p:nvSpPr>
        <p:spPr>
          <a:xfrm>
            <a:off x="3909182" y="1574109"/>
            <a:ext cx="3032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MVP Completamente Funcional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4" name="Google Shape;684;p38"/>
          <p:cNvSpPr txBox="1"/>
          <p:nvPr/>
        </p:nvSpPr>
        <p:spPr>
          <a:xfrm>
            <a:off x="3823886" y="1924113"/>
            <a:ext cx="3032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Todas las funcionalidades principales implementadas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Integración exitosa con servicios de IA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6905475" y="1496625"/>
            <a:ext cx="1606500" cy="25902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6905478" y="1496625"/>
            <a:ext cx="1606500" cy="25428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7" name="Google Shape;687;p38"/>
          <p:cNvSpPr txBox="1"/>
          <p:nvPr/>
        </p:nvSpPr>
        <p:spPr>
          <a:xfrm>
            <a:off x="6937200" y="1581566"/>
            <a:ext cx="1606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en Equipo</a:t>
            </a:r>
            <a:endParaRPr sz="12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8" name="Google Shape;688;p38"/>
          <p:cNvSpPr txBox="1"/>
          <p:nvPr/>
        </p:nvSpPr>
        <p:spPr>
          <a:xfrm>
            <a:off x="6853875" y="2064675"/>
            <a:ext cx="16527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70760" lvl="0" marL="443061" rtl="0" algn="l">
              <a:lnSpc>
                <a:spcPct val="115000"/>
              </a:lnSpc>
              <a:spcBef>
                <a:spcPts val="1163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Coordinación efectiva bajo metodología Scrum</a:t>
            </a:r>
            <a:br>
              <a:rPr lang="en" sz="775">
                <a:latin typeface="Poppins"/>
                <a:ea typeface="Poppins"/>
                <a:cs typeface="Poppins"/>
                <a:sym typeface="Poppins"/>
              </a:rPr>
            </a:br>
            <a:endParaRPr sz="775">
              <a:latin typeface="Poppins"/>
              <a:ea typeface="Poppins"/>
              <a:cs typeface="Poppins"/>
              <a:sym typeface="Poppins"/>
            </a:endParaRPr>
          </a:p>
          <a:p>
            <a:pPr indent="-270760" lvl="0" marL="4430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Distribución equitativa de responsabilidades</a:t>
            </a:r>
            <a:br>
              <a:rPr lang="en" sz="775">
                <a:latin typeface="Poppins"/>
                <a:ea typeface="Poppins"/>
                <a:cs typeface="Poppins"/>
                <a:sym typeface="Poppins"/>
              </a:rPr>
            </a:br>
            <a:endParaRPr sz="775">
              <a:latin typeface="Poppins"/>
              <a:ea typeface="Poppins"/>
              <a:cs typeface="Poppins"/>
              <a:sym typeface="Poppins"/>
            </a:endParaRPr>
          </a:p>
          <a:p>
            <a:pPr indent="-270760" lvl="0" marL="4430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Comunicación constante y colaborativa</a:t>
            </a:r>
            <a:endParaRPr sz="775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9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OBSTÁCULOS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4" name="Google Shape;694;p39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9"/>
          <p:cNvSpPr txBox="1"/>
          <p:nvPr/>
        </p:nvSpPr>
        <p:spPr>
          <a:xfrm>
            <a:off x="1607350" y="1210400"/>
            <a:ext cx="38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Presentados durante el desarrollo</a:t>
            </a:r>
            <a:endParaRPr sz="1900"/>
          </a:p>
        </p:txBody>
      </p:sp>
      <p:sp>
        <p:nvSpPr>
          <p:cNvPr id="696" name="Google Shape;696;p39"/>
          <p:cNvSpPr/>
          <p:nvPr/>
        </p:nvSpPr>
        <p:spPr>
          <a:xfrm>
            <a:off x="1205425" y="1757075"/>
            <a:ext cx="3567000" cy="2735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97" name="Google Shape;697;p39"/>
          <p:cNvSpPr/>
          <p:nvPr/>
        </p:nvSpPr>
        <p:spPr>
          <a:xfrm>
            <a:off x="1205431" y="1757075"/>
            <a:ext cx="3567000" cy="26853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1205700" y="1842025"/>
            <a:ext cx="3567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Operacional</a:t>
            </a:r>
            <a:endParaRPr sz="15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9" name="Google Shape;699;p39"/>
          <p:cNvSpPr txBox="1"/>
          <p:nvPr/>
        </p:nvSpPr>
        <p:spPr>
          <a:xfrm>
            <a:off x="1234250" y="2354900"/>
            <a:ext cx="34545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Integración de APIs de IA</a:t>
            </a: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Documentación exhaustiva y pruebas iterativas.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Optimización de costos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Implementación de caché y prompts optimizados.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Reconocimiento de voz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Configuración óptima Azure Speech Service.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Despliegue en Android</a:t>
            </a:r>
            <a:b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</a:b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Permisos, compatibilidad de versiones y pruebas en dispositivos reales.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0" name="Google Shape;700;p39"/>
          <p:cNvSpPr/>
          <p:nvPr/>
        </p:nvSpPr>
        <p:spPr>
          <a:xfrm>
            <a:off x="5088350" y="1757075"/>
            <a:ext cx="2669400" cy="2735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5088355" y="1757075"/>
            <a:ext cx="2669400" cy="26853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02" name="Google Shape;702;p39"/>
          <p:cNvSpPr txBox="1"/>
          <p:nvPr/>
        </p:nvSpPr>
        <p:spPr>
          <a:xfrm>
            <a:off x="5088325" y="1842025"/>
            <a:ext cx="2669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 Organizacionales</a:t>
            </a:r>
            <a:endParaRPr sz="15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3" name="Google Shape;703;p39"/>
          <p:cNvSpPr txBox="1"/>
          <p:nvPr/>
        </p:nvSpPr>
        <p:spPr>
          <a:xfrm>
            <a:off x="5109925" y="2543250"/>
            <a:ext cx="26262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Coordinación de horarios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Daily meetings flexibles y comunicación asíncrona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Carga académica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Planificación realista en sprints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Curva de aprendizaje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Pair programming y documentación compartida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0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APRENDIZAJES CLAVE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9" name="Google Shape;709;p40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0"/>
          <p:cNvSpPr/>
          <p:nvPr/>
        </p:nvSpPr>
        <p:spPr>
          <a:xfrm>
            <a:off x="1597300" y="1667775"/>
            <a:ext cx="6204000" cy="24906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1597300" y="1659838"/>
            <a:ext cx="6204000" cy="24246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2021725" y="1934804"/>
            <a:ext cx="5519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Comunicación constante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como factor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crítico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éxito</a:t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Priorización de </a:t>
            </a:r>
            <a:r>
              <a:rPr b="1"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MVP</a:t>
            </a: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 funcional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sobre funcionalidades complejas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Adaptación de </a:t>
            </a:r>
            <a:r>
              <a:rPr b="1"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Scrum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al contexto académico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trabajo colaborativo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resultó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más desafiante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lo esperado, poniendo de manifiesto la importancia de mejorar la coordinación y la comunicación dentro del equipo.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/>
          <p:nvPr/>
        </p:nvSpPr>
        <p:spPr>
          <a:xfrm>
            <a:off x="4526400" y="1243963"/>
            <a:ext cx="329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1"/>
          <p:cNvSpPr txBox="1"/>
          <p:nvPr/>
        </p:nvSpPr>
        <p:spPr>
          <a:xfrm>
            <a:off x="2126700" y="2134925"/>
            <a:ext cx="50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2"/>
          <p:cNvSpPr txBox="1"/>
          <p:nvPr/>
        </p:nvSpPr>
        <p:spPr>
          <a:xfrm>
            <a:off x="4526400" y="1243963"/>
            <a:ext cx="329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2126700" y="2134925"/>
            <a:ext cx="50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